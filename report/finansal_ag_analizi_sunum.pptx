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7498079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C2126"/>
                </a:solidFill>
                <a:latin typeface="Aptos Display"/>
              </a:defRPr>
            </a:pPr>
            <a:r>
              <a:t>Finansal Varl?klar Aras?ndaki ?li?kilerin Sosyal A? Analizi</a:t>
            </a:r>
          </a:p>
          <a:p>
            <a:pPr>
              <a:spcBef>
                <a:spcPts val="800"/>
              </a:spcBef>
              <a:defRPr sz="1700">
                <a:solidFill>
                  <a:srgbClr val="5C6570"/>
                </a:solidFill>
                <a:latin typeface="Aptos"/>
              </a:defRPr>
            </a:pPr>
            <a:r>
              <a:t>2014-2024 d?nemi k?resel finansal varl?klar ?zerine korelasyon tabanl? a?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88920"/>
            <a:ext cx="530352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C2126"/>
                </a:solidFill>
                <a:latin typeface="Aptos"/>
              </a:defRPr>
            </a:pPr>
            <a:r>
              <a:t>? Haz?rlayan: Emir Can G?ney</a:t>
            </a:r>
          </a:p>
          <a:p>
            <a:pPr>
              <a:spcAft>
                <a:spcPts val="900"/>
              </a:spcAft>
              <a:defRPr sz="1500">
                <a:solidFill>
                  <a:srgbClr val="1C2126"/>
                </a:solidFill>
                <a:latin typeface="Aptos"/>
              </a:defRPr>
            </a:pPr>
            <a:r>
              <a:t>? Ders: Sosyal A? Analizi</a:t>
            </a:r>
          </a:p>
          <a:p>
            <a:pPr>
              <a:spcAft>
                <a:spcPts val="900"/>
              </a:spcAft>
              <a:defRPr sz="1500">
                <a:solidFill>
                  <a:srgbClr val="1C2126"/>
                </a:solidFill>
                <a:latin typeface="Aptos"/>
              </a:defRPr>
            </a:pPr>
            <a:r>
              <a:t>? Veri kayna??: Yahoo Finance / yfinance</a:t>
            </a:r>
          </a:p>
        </p:txBody>
      </p:sp>
      <p:pic>
        <p:nvPicPr>
          <p:cNvPr id="5" name="Picture 4" descr="network_graph_enh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60120"/>
            <a:ext cx="5212080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4652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57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C2126"/>
                </a:solidFill>
                <a:latin typeface="Aptos Display"/>
              </a:defRPr>
            </a:pPr>
            <a:r>
              <a:t>Problem Tan?m? ve Veri Seti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70432"/>
            <a:ext cx="11109960" cy="18288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669280" cy="4114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126"/>
                </a:solidFill>
                <a:latin typeface="Aptos"/>
              </a:defRPr>
            </a:pPr>
            <a:r>
              <a:t>? D???mler: 18 finansal varl?k ve piyasa g?stergesi</a:t>
            </a:r>
          </a:p>
          <a:p>
            <a:pPr>
              <a:spcAft>
                <a:spcPts val="900"/>
              </a:spcAft>
              <a:defRPr sz="1700">
                <a:solidFill>
                  <a:srgbClr val="1C2126"/>
                </a:solidFill>
                <a:latin typeface="Aptos"/>
              </a:defRPr>
            </a:pPr>
            <a:r>
              <a:t>? Kenarlar: g?nl?k getiriler aras?ndaki g??l? Pearson korelasyon ili?kileri</a:t>
            </a:r>
          </a:p>
          <a:p>
            <a:pPr>
              <a:spcAft>
                <a:spcPts val="900"/>
              </a:spcAft>
              <a:defRPr sz="1700">
                <a:solidFill>
                  <a:srgbClr val="1C2126"/>
                </a:solidFill>
                <a:latin typeface="Aptos"/>
              </a:defRPr>
            </a:pPr>
            <a:r>
              <a:t>? A? tipi: y?ns?z, a??rl?kl? ve korelasyon tabanl? a?</a:t>
            </a:r>
          </a:p>
          <a:p>
            <a:pPr>
              <a:spcAft>
                <a:spcPts val="900"/>
              </a:spcAft>
              <a:defRPr sz="1700">
                <a:solidFill>
                  <a:srgbClr val="1C2126"/>
                </a:solidFill>
                <a:latin typeface="Aptos"/>
              </a:defRPr>
            </a:pPr>
            <a:r>
              <a:t>? E?ik de?er: |correlation| &gt;= 0.40</a:t>
            </a:r>
          </a:p>
          <a:p>
            <a:pPr>
              <a:spcAft>
                <a:spcPts val="900"/>
              </a:spcAft>
              <a:defRPr sz="1700">
                <a:solidFill>
                  <a:srgbClr val="1C2126"/>
                </a:solidFill>
                <a:latin typeface="Aptos"/>
              </a:defRPr>
            </a:pPr>
            <a:r>
              <a:t>? Ham fiyatlar haz?r a? verisi de?ildir; proje i?inde temizlenip a? veri setine d?n??t?r?lm??t?r.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50876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195E94"/>
                </a:solidFill>
                <a:latin typeface="Aptos Display"/>
              </a:defRPr>
            </a:pPr>
            <a:r>
              <a:t>18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Varl?k say?s?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629400" y="1508760"/>
            <a:ext cx="73152" cy="914400"/>
          </a:xfrm>
          <a:prstGeom prst="rect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006840" y="150876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008579"/>
                </a:solidFill>
                <a:latin typeface="Aptos Display"/>
              </a:defRPr>
            </a:pPr>
            <a:r>
              <a:t>19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Kenar say?s?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6840" y="1508760"/>
            <a:ext cx="73152" cy="914400"/>
          </a:xfrm>
          <a:prstGeom prst="rect">
            <a:avLst/>
          </a:prstGeom>
          <a:solidFill>
            <a:srgbClr val="008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29400" y="274320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3D8C50"/>
                </a:solidFill>
                <a:latin typeface="Aptos Display"/>
              </a:defRPr>
            </a:pPr>
            <a:r>
              <a:t>2014-2024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D?nem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2743200"/>
            <a:ext cx="73152" cy="914400"/>
          </a:xfrm>
          <a:prstGeom prst="rect">
            <a:avLst/>
          </a:prstGeom>
          <a:solidFill>
            <a:srgbClr val="3D8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006840" y="274320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BE3E3E"/>
                </a:solidFill>
                <a:latin typeface="Aptos Display"/>
              </a:defRPr>
            </a:pPr>
            <a:r>
              <a:t>yfinance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Veri kayna??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40" y="2743200"/>
            <a:ext cx="73152" cy="914400"/>
          </a:xfrm>
          <a:prstGeom prst="rect">
            <a:avLst/>
          </a:prstGeom>
          <a:solidFill>
            <a:srgbClr val="BE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4526280" cy="2331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81360" y="644652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57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C2126"/>
                </a:solidFill>
                <a:latin typeface="Aptos Display"/>
              </a:defRPr>
            </a:pPr>
            <a:r>
              <a:t>Y?ntem ve Analiz Ak???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70432"/>
            <a:ext cx="11109960" cy="18288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417320"/>
            <a:ext cx="411480" cy="411480"/>
          </a:xfrm>
          <a:prstGeom prst="ellipse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89888"/>
            <a:ext cx="5486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C2126"/>
                </a:solidFill>
                <a:latin typeface="Aptos"/>
              </a:defRPr>
            </a:pPr>
            <a:r>
              <a:t>Finansal fiyat verileri ?ekildi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286000"/>
            <a:ext cx="411480" cy="411480"/>
          </a:xfrm>
          <a:prstGeom prst="ellipse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258568"/>
            <a:ext cx="5486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C2126"/>
                </a:solidFill>
                <a:latin typeface="Aptos"/>
              </a:defRPr>
            </a:pPr>
            <a:r>
              <a:t>G?nl?k getiriler hesapland?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154680"/>
            <a:ext cx="411480" cy="411480"/>
          </a:xfrm>
          <a:prstGeom prst="ellipse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127248"/>
            <a:ext cx="5486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C2126"/>
                </a:solidFill>
                <a:latin typeface="Aptos"/>
              </a:defRPr>
            </a:pPr>
            <a:r>
              <a:t>Pearson korelasyon matrisi ?retildi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023359"/>
            <a:ext cx="411480" cy="411480"/>
          </a:xfrm>
          <a:prstGeom prst="ellipse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995927"/>
            <a:ext cx="5486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C2126"/>
                </a:solidFill>
                <a:latin typeface="Aptos"/>
              </a:defRPr>
            </a:pPr>
            <a:r>
              <a:t>0.40 e?i?iyle a? kenar listesi olu?turuldu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892040"/>
            <a:ext cx="411480" cy="411480"/>
          </a:xfrm>
          <a:prstGeom prst="ellipse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864607"/>
            <a:ext cx="5486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C2126"/>
                </a:solidFill>
                <a:latin typeface="Aptos"/>
              </a:defRPr>
            </a:pPr>
            <a:r>
              <a:t>Merkezilik, topluluk ve dayan?kl?l?k analizleri yap?ld?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463040"/>
            <a:ext cx="402336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NetworkX ile graph modeli kuruldu.</a:t>
            </a:r>
          </a:p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Louvain y?ntemi ile do?al topluluklar belirlendi.</a:t>
            </a:r>
          </a:p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?zole d???mler tam a? ?l??tlerinde ayr?ca dikkate al?nd?.</a:t>
            </a:r>
          </a:p>
        </p:txBody>
      </p:sp>
      <p:pic>
        <p:nvPicPr>
          <p:cNvPr id="15" name="Picture 14" descr="degre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3794760"/>
            <a:ext cx="41148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881360" y="644652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57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C2126"/>
                </a:solidFill>
                <a:latin typeface="Aptos Display"/>
              </a:defRPr>
            </a:pPr>
            <a:r>
              <a:t>A? G?rselle?tirmesi ve Ana Yap?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70432"/>
            <a:ext cx="11109960" cy="18288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twork_graph_enh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64008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600200"/>
            <a:ext cx="4114800" cy="3063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K?resel hisse senedi endeksleri ve VIX a??n en g?r?n?r ?ekirde?ini olu?turur.</a:t>
            </a:r>
          </a:p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Pozitif ili?kiler birlikte hareketi, negatif ili?kiler ters y?nl? hareketi g?sterir.</a:t>
            </a:r>
          </a:p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Alt?n-g?m??-dolar endeksi, petrol varl?klar? ve TL kurlar? ayr? k???k segmentler olu?turur.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4892040"/>
            <a:ext cx="18288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195E94"/>
                </a:solidFill>
                <a:latin typeface="Aptos Display"/>
              </a:defRPr>
            </a:pPr>
            <a:r>
              <a:t>0.1242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Tam a? yo?unlu?u</a:t>
            </a:r>
          </a:p>
        </p:txBody>
      </p:sp>
      <p:sp>
        <p:nvSpPr>
          <p:cNvPr id="7" name="Rectangle 6"/>
          <p:cNvSpPr/>
          <p:nvPr/>
        </p:nvSpPr>
        <p:spPr>
          <a:xfrm>
            <a:off x="7360920" y="4892040"/>
            <a:ext cx="73152" cy="777240"/>
          </a:xfrm>
          <a:prstGeom prst="rect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64040" y="4892040"/>
            <a:ext cx="18288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008579"/>
                </a:solidFill>
                <a:latin typeface="Aptos Display"/>
              </a:defRPr>
            </a:pPr>
            <a:r>
              <a:t>0.2436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Aktif alt a? yo?unlu?u</a:t>
            </a:r>
          </a:p>
        </p:txBody>
      </p:sp>
      <p:sp>
        <p:nvSpPr>
          <p:cNvPr id="9" name="Rectangle 8"/>
          <p:cNvSpPr/>
          <p:nvPr/>
        </p:nvSpPr>
        <p:spPr>
          <a:xfrm>
            <a:off x="9464040" y="4892040"/>
            <a:ext cx="73152" cy="777240"/>
          </a:xfrm>
          <a:prstGeom prst="rect">
            <a:avLst/>
          </a:prstGeom>
          <a:solidFill>
            <a:srgbClr val="008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0" y="644652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57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C2126"/>
                </a:solidFill>
                <a:latin typeface="Aptos Display"/>
              </a:defRPr>
            </a:pPr>
            <a:r>
              <a:t>Merkezilik ve Topluluk Bulgular?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70432"/>
            <a:ext cx="11109960" cy="18288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munity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52578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80760" y="1417320"/>
            <a:ext cx="2514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95E94"/>
                </a:solidFill>
              </a:defRPr>
            </a:pPr>
            <a:r>
              <a:t>En y?ksek degree centrality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DAX: 0.2941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SP500: 0.2941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FTSE100: 0.2941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VIX: 0.2941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Dow_Jones: 0.2941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417320"/>
            <a:ext cx="2651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BE3E3E"/>
                </a:solidFill>
              </a:defRPr>
            </a:pPr>
            <a:r>
              <a:t>K?pr? rol?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VIX: 0.0735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Gold: 0.0074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Silver: 0.0000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Brent_Oil: 0.0000</a:t>
            </a:r>
          </a:p>
          <a:p>
            <a:pPr>
              <a:defRPr sz="1250">
                <a:solidFill>
                  <a:srgbClr val="1C2126"/>
                </a:solidFill>
              </a:defRPr>
            </a:pPr>
            <a:r>
              <a:t>Natural_Gas: 0.0000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5257800"/>
            <a:ext cx="2103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3D8C50"/>
                </a:solidFill>
                <a:latin typeface="Aptos Display"/>
              </a:defRPr>
            </a:pPr>
            <a:r>
              <a:t>4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Louvain topluluk say?s?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5257800"/>
            <a:ext cx="73152" cy="731520"/>
          </a:xfrm>
          <a:prstGeom prst="rect">
            <a:avLst/>
          </a:prstGeom>
          <a:solidFill>
            <a:srgbClr val="3D8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32520" y="5257800"/>
            <a:ext cx="2103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BE3E3E"/>
                </a:solidFill>
                <a:latin typeface="Aptos Display"/>
              </a:defRPr>
            </a:pPr>
            <a:r>
              <a:t>VIX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?ne ??kan k?pr?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5257800"/>
            <a:ext cx="73152" cy="731520"/>
          </a:xfrm>
          <a:prstGeom prst="rect">
            <a:avLst/>
          </a:prstGeom>
          <a:solidFill>
            <a:srgbClr val="BE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57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C2126"/>
                </a:solidFill>
                <a:latin typeface="Aptos Display"/>
              </a:defRPr>
            </a:pPr>
            <a:r>
              <a:t>Sonu? ve Dayan?kl?l?k Yorumu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70432"/>
            <a:ext cx="11109960" cy="18288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2057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195E94"/>
                </a:solidFill>
                <a:latin typeface="Aptos Display"/>
              </a:defRPr>
            </a:pPr>
            <a:r>
              <a:t>19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Ba?lang?? kenar say?s?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73152" cy="822960"/>
          </a:xfrm>
          <a:prstGeom prst="rect">
            <a:avLst/>
          </a:prstGeom>
          <a:solidFill>
            <a:srgbClr val="195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1417320"/>
            <a:ext cx="2057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008579"/>
                </a:solidFill>
                <a:latin typeface="Aptos Display"/>
              </a:defRPr>
            </a:pPr>
            <a:r>
              <a:t>14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SP500 ??kar?l?nca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417320"/>
            <a:ext cx="73152" cy="822960"/>
          </a:xfrm>
          <a:prstGeom prst="rect">
            <a:avLst/>
          </a:prstGeom>
          <a:solidFill>
            <a:srgbClr val="008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57800" y="1417320"/>
            <a:ext cx="2057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73152"/>
          <a:lstStyle/>
          <a:p>
            <a:pPr algn="ctr">
              <a:defRPr sz="2300" b="1">
                <a:solidFill>
                  <a:srgbClr val="BE3E3E"/>
                </a:solidFill>
                <a:latin typeface="Aptos Display"/>
              </a:defRPr>
            </a:pPr>
            <a:r>
              <a:t>14</a:t>
            </a:r>
          </a:p>
          <a:p>
            <a:pPr>
              <a:defRPr sz="1050">
                <a:solidFill>
                  <a:srgbClr val="5C6570"/>
                </a:solidFill>
                <a:latin typeface="Aptos"/>
              </a:defRPr>
            </a:pPr>
            <a:r>
              <a:t>VIX ??kar?l?nca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1417320"/>
            <a:ext cx="73152" cy="822960"/>
          </a:xfrm>
          <a:prstGeom prst="rect">
            <a:avLst/>
          </a:prstGeom>
          <a:solidFill>
            <a:srgbClr val="BE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64465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A?, hisse senedi endeksleri ve VIX etraf?nda g??l? bir ?ekirdek yap? ?retmi?tir.</a:t>
            </a:r>
          </a:p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Topluluklar finansal piyasa segmentleriyle uyumlu bi?imde ayr??m??t?r.</a:t>
            </a:r>
          </a:p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Merkezi d???m ??kar?mlar? ba?lant? say?s?n? azalt?r; ancak a??n tamam? tek hamlede ??kmez.</a:t>
            </a:r>
          </a:p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?al??man?n temel s?n?rl?l??? korelasyonun nedensellik g?stermemesi ve e?i?e duyarl? olmas?d?r.</a:t>
            </a:r>
          </a:p>
          <a:p>
            <a:pPr>
              <a:spcAft>
                <a:spcPts val="900"/>
              </a:spcAft>
              <a:defRPr sz="1600">
                <a:solidFill>
                  <a:srgbClr val="1C2126"/>
                </a:solidFill>
                <a:latin typeface="Aptos"/>
              </a:defRPr>
            </a:pPr>
            <a:r>
              <a:t>? Teslim paketi: rapor, notebook, veri setleri, g?rseller ve bu k?sa sunum.</a:t>
            </a:r>
          </a:p>
        </p:txBody>
      </p:sp>
      <p:pic>
        <p:nvPicPr>
          <p:cNvPr id="11" name="Picture 10" descr="top_degree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08760"/>
            <a:ext cx="3840480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81360" y="644652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657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