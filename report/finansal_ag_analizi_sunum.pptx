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8" r:id="rId7"/>
    <p:sldId id="260" r:id="rId8"/>
    <p:sldId id="266" r:id="rId9"/>
    <p:sldId id="261" r:id="rId10"/>
    <p:sldId id="267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817" autoAdjust="0"/>
  </p:normalViewPr>
  <p:slideViewPr>
    <p:cSldViewPr snapToGrid="0" snapToObjects="1">
      <p:cViewPr varScale="1">
        <p:scale>
          <a:sx n="107" d="100"/>
          <a:sy n="107" d="100"/>
        </p:scale>
        <p:origin x="73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E7DD7006-A3E0-4945-A033-C4EFF0CF96FD}"/>
              </a:ext>
            </a:extLst>
          </p:cNvPr>
          <p:cNvSpPr/>
          <p:nvPr/>
        </p:nvSpPr>
        <p:spPr>
          <a:xfrm>
            <a:off x="270625" y="4018878"/>
            <a:ext cx="2651760" cy="2651760"/>
          </a:xfrm>
          <a:prstGeom prst="ellipse">
            <a:avLst/>
          </a:prstGeom>
          <a:solidFill>
            <a:srgbClr val="1E3448"/>
          </a:solidFill>
          <a:ln w="25400">
            <a:solidFill>
              <a:srgbClr val="007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05025" y="649224"/>
            <a:ext cx="64008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rPr sz="360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Finansal</a:t>
            </a:r>
            <a:r>
              <a: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sz="360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Varlıklar</a:t>
            </a:r>
            <a:r>
              <a: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sz="360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Arasındaki</a:t>
            </a:r>
            <a:r>
              <a: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tr-TR" sz="3600" noProof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İlişkilerin</a:t>
            </a:r>
            <a:r>
              <a: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sz="360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Sosyal</a:t>
            </a:r>
            <a:r>
              <a: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sz="360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Ağ</a:t>
            </a:r>
            <a:r>
              <a: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sz="360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Analizi</a:t>
            </a:r>
            <a:endParaRPr sz="36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4945" y="4978998"/>
            <a:ext cx="38404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300" b="0">
                <a:solidFill>
                  <a:srgbClr val="DAE5ED"/>
                </a:solidFill>
                <a:latin typeface="Aptos"/>
              </a:defRPr>
            </a:pPr>
            <a:r>
              <a:rPr sz="2400" b="1"/>
              <a:t>Emir Can Güney</a:t>
            </a:r>
            <a:br>
              <a:rPr/>
            </a:br>
            <a:r>
              <a:rPr sz="1600" err="1"/>
              <a:t>Sosyal</a:t>
            </a:r>
            <a:r>
              <a:rPr sz="1600"/>
              <a:t> </a:t>
            </a:r>
            <a:r>
              <a:rPr sz="1600" err="1"/>
              <a:t>Ağ</a:t>
            </a:r>
            <a:r>
              <a:rPr sz="1600"/>
              <a:t> </a:t>
            </a:r>
            <a:r>
              <a:rPr sz="1600" err="1"/>
              <a:t>Analizi</a:t>
            </a:r>
            <a:r>
              <a:rPr sz="1600"/>
              <a:t> </a:t>
            </a:r>
            <a:r>
              <a:rPr sz="1600" err="1"/>
              <a:t>Projesi</a:t>
            </a:r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9014191" y="277547"/>
            <a:ext cx="2651760" cy="2651760"/>
          </a:xfrm>
          <a:prstGeom prst="ellipse">
            <a:avLst/>
          </a:prstGeom>
          <a:solidFill>
            <a:srgbClr val="1E3448"/>
          </a:solidFill>
          <a:ln w="25400">
            <a:solidFill>
              <a:srgbClr val="007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 flipV="1">
            <a:off x="9625832" y="969264"/>
            <a:ext cx="685801" cy="365760"/>
          </a:xfrm>
          <a:prstGeom prst="line">
            <a:avLst/>
          </a:prstGeom>
          <a:ln w="17780">
            <a:solidFill>
              <a:srgbClr val="DA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</p:cNvCxnSpPr>
          <p:nvPr/>
        </p:nvCxnSpPr>
        <p:spPr>
          <a:xfrm>
            <a:off x="10311633" y="969264"/>
            <a:ext cx="594360" cy="457200"/>
          </a:xfrm>
          <a:prstGeom prst="line">
            <a:avLst/>
          </a:prstGeom>
          <a:ln w="17780">
            <a:solidFill>
              <a:srgbClr val="DA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endCxn id="18" idx="1"/>
          </p:cNvCxnSpPr>
          <p:nvPr/>
        </p:nvCxnSpPr>
        <p:spPr>
          <a:xfrm>
            <a:off x="9625832" y="1335024"/>
            <a:ext cx="367004" cy="729806"/>
          </a:xfrm>
          <a:prstGeom prst="line">
            <a:avLst/>
          </a:prstGeom>
          <a:ln w="17780">
            <a:solidFill>
              <a:srgbClr val="DA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18" idx="6"/>
          </p:cNvCxnSpPr>
          <p:nvPr/>
        </p:nvCxnSpPr>
        <p:spPr>
          <a:xfrm flipV="1">
            <a:off x="10133324" y="2066544"/>
            <a:ext cx="681229" cy="56478"/>
          </a:xfrm>
          <a:prstGeom prst="line">
            <a:avLst/>
          </a:prstGeom>
          <a:ln w="17780">
            <a:solidFill>
              <a:srgbClr val="DA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 flipH="1">
            <a:off x="10814553" y="1426464"/>
            <a:ext cx="91440" cy="640080"/>
          </a:xfrm>
          <a:prstGeom prst="line">
            <a:avLst/>
          </a:prstGeom>
          <a:ln w="17780">
            <a:solidFill>
              <a:srgbClr val="DA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</p:cNvCxnSpPr>
          <p:nvPr/>
        </p:nvCxnSpPr>
        <p:spPr>
          <a:xfrm>
            <a:off x="10311633" y="969264"/>
            <a:ext cx="82296" cy="730663"/>
          </a:xfrm>
          <a:prstGeom prst="line">
            <a:avLst/>
          </a:prstGeom>
          <a:ln w="17780">
            <a:solidFill>
              <a:srgbClr val="DA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552680" y="1261872"/>
            <a:ext cx="164592" cy="164592"/>
          </a:xfrm>
          <a:prstGeom prst="ellipse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38481" y="896112"/>
            <a:ext cx="164592" cy="164592"/>
          </a:xfrm>
          <a:prstGeom prst="ellipse">
            <a:avLst/>
          </a:prstGeom>
          <a:solidFill>
            <a:srgbClr val="E6A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32841" y="1353312"/>
            <a:ext cx="164592" cy="164592"/>
          </a:xfrm>
          <a:prstGeom prst="ellipse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968732" y="2040726"/>
            <a:ext cx="164592" cy="164592"/>
          </a:xfrm>
          <a:prstGeom prst="ellipse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741401" y="1993392"/>
            <a:ext cx="164592" cy="164592"/>
          </a:xfrm>
          <a:prstGeom prst="ellipse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Düz Ok Bağlayıcısı 23">
            <a:extLst>
              <a:ext uri="{FF2B5EF4-FFF2-40B4-BE49-F238E27FC236}">
                <a16:creationId xmlns:a16="http://schemas.microsoft.com/office/drawing/2014/main" id="{CBBB6064-25CC-1627-EC7A-D0D49CD55E16}"/>
              </a:ext>
            </a:extLst>
          </p:cNvPr>
          <p:cNvCxnSpPr>
            <a:cxnSpLocks/>
          </p:cNvCxnSpPr>
          <p:nvPr/>
        </p:nvCxnSpPr>
        <p:spPr>
          <a:xfrm flipV="1">
            <a:off x="2829978" y="2270939"/>
            <a:ext cx="6278163" cy="2602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Düz Ok Bağlayıcısı 24">
            <a:extLst>
              <a:ext uri="{FF2B5EF4-FFF2-40B4-BE49-F238E27FC236}">
                <a16:creationId xmlns:a16="http://schemas.microsoft.com/office/drawing/2014/main" id="{843B47AB-CCA5-7444-26ED-10B8390B0566}"/>
              </a:ext>
            </a:extLst>
          </p:cNvPr>
          <p:cNvCxnSpPr>
            <a:cxnSpLocks/>
            <a:stCxn id="8" idx="2"/>
          </p:cNvCxnSpPr>
          <p:nvPr/>
        </p:nvCxnSpPr>
        <p:spPr>
          <a:xfrm flipH="1" flipV="1">
            <a:off x="7605788" y="1435608"/>
            <a:ext cx="1408403" cy="167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">
            <a:extLst>
              <a:ext uri="{FF2B5EF4-FFF2-40B4-BE49-F238E27FC236}">
                <a16:creationId xmlns:a16="http://schemas.microsoft.com/office/drawing/2014/main" id="{C35D3929-C8B0-1D81-2C01-042E274121D8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Düz Bağlayıcı 34">
            <a:extLst>
              <a:ext uri="{FF2B5EF4-FFF2-40B4-BE49-F238E27FC236}">
                <a16:creationId xmlns:a16="http://schemas.microsoft.com/office/drawing/2014/main" id="{68BFD8A2-0474-C12A-6687-B55C840EF4ED}"/>
              </a:ext>
            </a:extLst>
          </p:cNvPr>
          <p:cNvCxnSpPr>
            <a:cxnSpLocks/>
            <a:stCxn id="18" idx="7"/>
          </p:cNvCxnSpPr>
          <p:nvPr/>
        </p:nvCxnSpPr>
        <p:spPr>
          <a:xfrm flipV="1">
            <a:off x="10109220" y="1746504"/>
            <a:ext cx="364718" cy="3183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074510" y="1335024"/>
            <a:ext cx="658368" cy="658368"/>
          </a:xfrm>
          <a:prstGeom prst="ellipse">
            <a:avLst/>
          </a:prstGeom>
          <a:solidFill>
            <a:srgbClr val="E6A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142434"/>
                </a:solidFill>
                <a:latin typeface="Aptos Display"/>
              </a:defRPr>
            </a:pPr>
            <a:r>
              <a:t>$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F2328"/>
                </a:solidFill>
                <a:latin typeface="Aptos"/>
              </a:defRPr>
            </a:pPr>
            <a:r>
              <a:t>Amaç </a:t>
            </a:r>
            <a:r>
              <a:rPr err="1"/>
              <a:t>ve</a:t>
            </a:r>
            <a:r>
              <a:t> </a:t>
            </a:r>
            <a:r>
              <a:rPr err="1"/>
              <a:t>Ağ</a:t>
            </a:r>
            <a:r>
              <a:t> </a:t>
            </a:r>
            <a:r>
              <a:rPr err="1"/>
              <a:t>Mantığı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000" b="1">
                <a:solidFill>
                  <a:srgbClr val="1F2328"/>
                </a:solidFill>
                <a:latin typeface="Aptos"/>
              </a:defRPr>
            </a:pPr>
            <a:r>
              <a:rPr lang="tr-TR" sz="1700" b="1"/>
              <a:t>Sosyal ağ analizi, finansal piyasaları yalnızca fiyat hareketleriyle değil, ilişkisel yapı üzerinden değerlendirme imkanı sunmaktadır.</a:t>
            </a:r>
            <a:endParaRPr sz="1700"/>
          </a:p>
        </p:txBody>
      </p:sp>
      <p:sp>
        <p:nvSpPr>
          <p:cNvPr id="5" name="TextBox 4"/>
          <p:cNvSpPr txBox="1"/>
          <p:nvPr/>
        </p:nvSpPr>
        <p:spPr>
          <a:xfrm>
            <a:off x="749808" y="2606040"/>
            <a:ext cx="5486400" cy="2834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600">
                <a:solidFill>
                  <a:srgbClr val="FF0000"/>
                </a:solidFill>
              </a:rPr>
              <a:t>Düğümler</a:t>
            </a:r>
            <a:r>
              <a:rPr lang="tr-TR" sz="1600"/>
              <a:t> finansal varlıkları temsil eder.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600">
                <a:solidFill>
                  <a:srgbClr val="FF0000"/>
                </a:solidFill>
              </a:rPr>
              <a:t>Kenarlar</a:t>
            </a:r>
            <a:r>
              <a:rPr lang="tr-TR" sz="1600"/>
              <a:t> finansal varlıklar arasındaki korelasyon ilişkilerini temsil eder.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600">
                <a:solidFill>
                  <a:srgbClr val="FF0000"/>
                </a:solidFill>
              </a:rPr>
              <a:t>Ağ yapısı </a:t>
            </a:r>
            <a:r>
              <a:rPr lang="tr-TR" sz="1600"/>
              <a:t>yönsüz ve ağırlıklı olarak modellenmiştir.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600"/>
              <a:t>Temel araştırma soruları: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600"/>
              <a:t>Finansal piyasa varlıkları hangi merkezi yapılar etrafında kümelenmektedir?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600"/>
              <a:t>Finansal varlıklar arasında nasıl bir ilişki ağı oluşmaktadır?</a:t>
            </a:r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6812280" y="1600200"/>
            <a:ext cx="19202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1C5691"/>
                </a:solidFill>
                <a:latin typeface="Aptos Display"/>
              </a:defRPr>
            </a:pPr>
            <a:r>
              <a:t>18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rPr err="1"/>
              <a:t>Düğüm</a:t>
            </a: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12280" y="1600200"/>
            <a:ext cx="64008" cy="868680"/>
          </a:xfrm>
          <a:prstGeom prst="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89720" y="1600200"/>
            <a:ext cx="19202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007E80"/>
                </a:solidFill>
                <a:latin typeface="Aptos Display"/>
              </a:defRPr>
            </a:pPr>
            <a:r>
              <a:t>19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Kenar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9720" y="1600200"/>
            <a:ext cx="64008" cy="86868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12280" y="2788920"/>
            <a:ext cx="19202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418456"/>
                </a:solidFill>
                <a:latin typeface="Aptos Display"/>
              </a:defRPr>
            </a:pPr>
            <a:r>
              <a:t>|r| &gt;= 0.40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Eşik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2788920"/>
            <a:ext cx="64008" cy="868680"/>
          </a:xfrm>
          <a:prstGeom prst="rect">
            <a:avLst/>
          </a:prstGeom>
          <a:solidFill>
            <a:srgbClr val="418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89720" y="2788920"/>
            <a:ext cx="19202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B94242"/>
                </a:solidFill>
                <a:latin typeface="Aptos Display"/>
              </a:defRPr>
            </a:pPr>
            <a:r>
              <a:t>Yönsüz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Ağ tipi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2788920"/>
            <a:ext cx="64008" cy="868680"/>
          </a:xfrm>
          <a:prstGeom prst="rect">
            <a:avLst/>
          </a:prstGeom>
          <a:solidFill>
            <a:srgbClr val="B9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0" y="4160520"/>
            <a:ext cx="42976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400" b="0">
                <a:solidFill>
                  <a:srgbClr val="5E6670"/>
                </a:solidFill>
                <a:latin typeface="Aptos"/>
              </a:defRPr>
            </a:pPr>
            <a:r>
              <a:rPr sz="1600"/>
              <a:t>Korelasyonun işareti korundu: pozitif ilişkiler birlikte hareketi, negatif ilişkiler ters yönlü hareketi gösterir.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2</a:t>
            </a: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41855D35-4EB2-8F5F-7B66-C539A5B3D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0" name="Resim 29">
            <a:extLst>
              <a:ext uri="{FF2B5EF4-FFF2-40B4-BE49-F238E27FC236}">
                <a16:creationId xmlns:a16="http://schemas.microsoft.com/office/drawing/2014/main" id="{94C4F4B2-38A8-9847-C819-967BDEE1A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145" y="2674852"/>
            <a:ext cx="906389" cy="189246"/>
          </a:xfrm>
          <a:prstGeom prst="rect">
            <a:avLst/>
          </a:prstGeom>
        </p:spPr>
      </p:pic>
      <p:sp>
        <p:nvSpPr>
          <p:cNvPr id="16" name="Rectangle 1">
            <a:extLst>
              <a:ext uri="{FF2B5EF4-FFF2-40B4-BE49-F238E27FC236}">
                <a16:creationId xmlns:a16="http://schemas.microsoft.com/office/drawing/2014/main" id="{61A383BF-84E2-74C4-5487-C63C6CEAC3A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C10A41B0-0FE7-14B7-79B4-EA2A4CA4C5FC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F2328"/>
                </a:solidFill>
                <a:latin typeface="Aptos"/>
              </a:defRPr>
            </a:pPr>
            <a:r>
              <a:t>Veri Seti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2120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>
                <a:solidFill>
                  <a:srgbClr val="FF0000"/>
                </a:solidFill>
              </a:rPr>
              <a:t>Veri </a:t>
            </a:r>
            <a:r>
              <a:rPr err="1">
                <a:solidFill>
                  <a:srgbClr val="FF0000"/>
                </a:solidFill>
              </a:rPr>
              <a:t>kaynağı</a:t>
            </a:r>
            <a:r>
              <a:t>: Yahoo Finance.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err="1">
                <a:solidFill>
                  <a:srgbClr val="FF0000"/>
                </a:solidFill>
              </a:rPr>
              <a:t>Dönem</a:t>
            </a:r>
            <a:r>
              <a:t>: 2014-202</a:t>
            </a:r>
            <a:r>
              <a:rPr lang="tr-TR"/>
              <a:t>5</a:t>
            </a:r>
            <a: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err="1">
                <a:solidFill>
                  <a:srgbClr val="FF0000"/>
                </a:solidFill>
              </a:rPr>
              <a:t>Varlıklar</a:t>
            </a:r>
            <a:r>
              <a:t>: metal, </a:t>
            </a:r>
            <a:r>
              <a:rPr err="1"/>
              <a:t>enerji</a:t>
            </a:r>
            <a:r>
              <a:t>, </a:t>
            </a:r>
            <a:r>
              <a:rPr err="1"/>
              <a:t>hisse</a:t>
            </a:r>
            <a:r>
              <a:t> </a:t>
            </a:r>
            <a:r>
              <a:rPr err="1"/>
              <a:t>endeksi</a:t>
            </a:r>
            <a:r>
              <a:t>, </a:t>
            </a:r>
            <a:r>
              <a:rPr err="1"/>
              <a:t>döviz</a:t>
            </a:r>
            <a:r>
              <a:t>, </a:t>
            </a:r>
            <a:r>
              <a:rPr err="1"/>
              <a:t>kripto</a:t>
            </a:r>
            <a:r>
              <a:t>, risk </a:t>
            </a:r>
            <a:r>
              <a:rPr err="1"/>
              <a:t>ve</a:t>
            </a:r>
            <a:r>
              <a:t> </a:t>
            </a:r>
            <a:r>
              <a:rPr err="1"/>
              <a:t>faiz</a:t>
            </a:r>
            <a:r>
              <a:t> </a:t>
            </a:r>
            <a:r>
              <a:rPr err="1"/>
              <a:t>göstergeleri</a:t>
            </a:r>
            <a: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700"/>
              <a:t>Ham fiyat </a:t>
            </a:r>
            <a:r>
              <a:rPr lang="tr-TR"/>
              <a:t>(Adj Close )</a:t>
            </a:r>
            <a:r>
              <a:rPr lang="tr-TR" sz="1700"/>
              <a:t> verilerinden </a:t>
            </a:r>
            <a:r>
              <a:rPr lang="tr-TR" sz="1700">
                <a:solidFill>
                  <a:srgbClr val="FF0000"/>
                </a:solidFill>
              </a:rPr>
              <a:t>yüzde değişim bazlı günlük getiri serileri</a:t>
            </a:r>
            <a:r>
              <a:rPr lang="tr-TR" sz="1700"/>
              <a:t> (pct_change) üretildi.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700"/>
              <a:t>Farklı piyasalardaki tatil ve işlem günü farklarına bağlı </a:t>
            </a:r>
            <a:r>
              <a:rPr lang="tr-TR" sz="1700">
                <a:solidFill>
                  <a:srgbClr val="FF0000"/>
                </a:solidFill>
              </a:rPr>
              <a:t>eksik tarihler temizlendi </a:t>
            </a:r>
            <a:r>
              <a:rPr lang="tr-TR" sz="1700"/>
              <a:t>(dropna()).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F2328"/>
                </a:solidFill>
                <a:latin typeface="Aptos"/>
              </a:defRPr>
            </a:pPr>
            <a:r>
              <a:rPr lang="tr-TR" sz="1700"/>
              <a:t>Finansal varlıklar arasındaki ilişkiler </a:t>
            </a:r>
            <a:r>
              <a:rPr lang="tr-TR" sz="1700">
                <a:solidFill>
                  <a:srgbClr val="FF0000"/>
                </a:solidFill>
              </a:rPr>
              <a:t>Pearson korelasyonu</a:t>
            </a:r>
            <a:r>
              <a:rPr lang="tr-TR" sz="1700"/>
              <a:t> ile hesaplanarak ağ yapısı oluşturuldu.</a:t>
            </a:r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0" y="1600200"/>
            <a:ext cx="2240280" cy="384048"/>
          </a:xfrm>
          <a:prstGeom prst="round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Altın / Gümüş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600200"/>
            <a:ext cx="2240280" cy="384048"/>
          </a:xfrm>
          <a:prstGeom prst="round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Petrol / Gaz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13432"/>
            <a:ext cx="2240280" cy="384048"/>
          </a:xfrm>
          <a:prstGeom prst="roundRect">
            <a:avLst/>
          </a:prstGeom>
          <a:solidFill>
            <a:srgbClr val="418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SP500 / NASDAQ / DAX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2313432"/>
            <a:ext cx="2240280" cy="384048"/>
          </a:xfrm>
          <a:prstGeom prst="roundRect">
            <a:avLst/>
          </a:prstGeom>
          <a:solidFill>
            <a:srgbClr val="B9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BIST100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26664"/>
            <a:ext cx="2240280" cy="384048"/>
          </a:xfrm>
          <a:prstGeom prst="round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USD_TRY / EUR_TRY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026664"/>
            <a:ext cx="2240280" cy="384048"/>
          </a:xfrm>
          <a:prstGeom prst="round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Bitcoin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739896"/>
            <a:ext cx="2240280" cy="384048"/>
          </a:xfrm>
          <a:prstGeom prst="roundRect">
            <a:avLst/>
          </a:prstGeom>
          <a:solidFill>
            <a:srgbClr val="B9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VIX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739896"/>
            <a:ext cx="2240280" cy="384048"/>
          </a:xfrm>
          <a:prstGeom prst="roundRect">
            <a:avLst/>
          </a:prstGeom>
          <a:solidFill>
            <a:srgbClr val="418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Dolar Endeksi / Tahvil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3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34F543A0-C9CE-3938-DEFB-F8F0471C1B84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7AE0217A-E051-A5FD-7124-DF664FCF78B5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966" y="81579"/>
            <a:ext cx="10506634" cy="6694842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370556C6-9808-1D35-15AC-2780E3D48741}"/>
              </a:ext>
            </a:extLst>
          </p:cNvPr>
          <p:cNvSpPr txBox="1"/>
          <p:nvPr/>
        </p:nvSpPr>
        <p:spPr>
          <a:xfrm>
            <a:off x="152400" y="385482"/>
            <a:ext cx="138056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>
                <a:solidFill>
                  <a:srgbClr val="FF0000"/>
                </a:solidFill>
              </a:rPr>
              <a:t>SP500  NASDAQ  Dow_Jones </a:t>
            </a:r>
          </a:p>
          <a:p>
            <a:endParaRPr lang="tr-TR">
              <a:solidFill>
                <a:srgbClr val="FF0000"/>
              </a:solidFill>
            </a:endParaRPr>
          </a:p>
          <a:p>
            <a:r>
              <a:rPr lang="tr-TR">
                <a:solidFill>
                  <a:schemeClr val="tx2">
                    <a:lumMod val="60000"/>
                    <a:lumOff val="40000"/>
                  </a:schemeClr>
                </a:solidFill>
              </a:rPr>
              <a:t>VIX ↔ (SP500,  NASDAQ,  Dow_Jones) </a:t>
            </a:r>
          </a:p>
          <a:p>
            <a:endParaRPr lang="tr-TR">
              <a:solidFill>
                <a:srgbClr val="FF0000"/>
              </a:solidFill>
            </a:endParaRPr>
          </a:p>
          <a:p>
            <a:r>
              <a:rPr lang="tr-TR">
                <a:solidFill>
                  <a:srgbClr val="FF0000"/>
                </a:solidFill>
              </a:rPr>
              <a:t>Gold</a:t>
            </a:r>
          </a:p>
          <a:p>
            <a:r>
              <a:rPr lang="tr-TR">
                <a:solidFill>
                  <a:srgbClr val="FF0000"/>
                </a:solidFill>
              </a:rPr>
              <a:t>Silver </a:t>
            </a:r>
          </a:p>
          <a:p>
            <a:endParaRPr lang="tr-TR">
              <a:solidFill>
                <a:srgbClr val="FF0000"/>
              </a:solidFill>
            </a:endParaRPr>
          </a:p>
          <a:p>
            <a:r>
              <a:rPr lang="tr-TR">
                <a:solidFill>
                  <a:srgbClr val="FF0000"/>
                </a:solidFill>
              </a:rPr>
              <a:t>USD_TRY  EUR_TRY </a:t>
            </a:r>
          </a:p>
          <a:p>
            <a:endParaRPr lang="tr-TR"/>
          </a:p>
          <a:p>
            <a:r>
              <a:rPr lang="tr-TR">
                <a:solidFill>
                  <a:srgbClr val="FF0000"/>
                </a:solidFill>
              </a:rPr>
              <a:t>Brent_Oil  WTI_Oil </a:t>
            </a:r>
          </a:p>
          <a:p>
            <a:endParaRPr lang="tr-TR"/>
          </a:p>
          <a:p>
            <a:r>
              <a:rPr lang="tr-TR">
                <a:solidFill>
                  <a:srgbClr val="FFC000"/>
                </a:solidFill>
              </a:rPr>
              <a:t>Bitcoin</a:t>
            </a:r>
            <a:r>
              <a:rPr lang="tr-TR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5860B2-28DC-6E65-5384-5F88C2A31907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8CEB8F-9248-BB4F-2BA6-B3E3DB30C92C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92075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F2328"/>
                </a:solidFill>
                <a:latin typeface="Aptos"/>
              </a:defRPr>
            </a:pPr>
            <a:r>
              <a:t>Analiz Akışı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44168" y="1952244"/>
            <a:ext cx="502920" cy="502920"/>
          </a:xfrm>
          <a:prstGeom prst="round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893" y="2670004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F2328"/>
                </a:solidFill>
                <a:latin typeface="Aptos"/>
              </a:defRPr>
            </a:pPr>
            <a:r>
              <a:rPr err="1"/>
              <a:t>Fiyat</a:t>
            </a:r>
            <a:r>
              <a:t> </a:t>
            </a:r>
            <a:r>
              <a:rPr err="1"/>
              <a:t>verisi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2668" y="3086100"/>
            <a:ext cx="1874519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50" b="0">
                <a:solidFill>
                  <a:srgbClr val="5E6670"/>
                </a:solidFill>
                <a:latin typeface="Aptos"/>
              </a:defRPr>
            </a:pPr>
            <a:r>
              <a:t>Yahoo Finance </a:t>
            </a:r>
            <a:r>
              <a:rPr err="1"/>
              <a:t>üzerinden</a:t>
            </a:r>
            <a:r>
              <a:t> fiyat</a:t>
            </a:r>
            <a:r>
              <a:rPr lang="tr-TR"/>
              <a:t> </a:t>
            </a:r>
            <a:r>
              <a:t>serileri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002536" y="2071116"/>
            <a:ext cx="1097280" cy="256032"/>
          </a:xfrm>
          <a:prstGeom prst="rightArrow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584448" y="1952244"/>
            <a:ext cx="502920" cy="502920"/>
          </a:xfrm>
          <a:prstGeom prst="round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3311" y="2674709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F2328"/>
                </a:solidFill>
                <a:latin typeface="Aptos"/>
              </a:defRPr>
            </a:pPr>
            <a:r>
              <a:t>Getiri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1764" y="3086100"/>
            <a:ext cx="1874519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50" b="0">
                <a:solidFill>
                  <a:srgbClr val="5E6670"/>
                </a:solidFill>
                <a:latin typeface="Aptos"/>
              </a:defRPr>
            </a:pPr>
            <a:r>
              <a:rPr err="1"/>
              <a:t>Günlük</a:t>
            </a:r>
            <a:r>
              <a:t> </a:t>
            </a:r>
            <a:r>
              <a:rPr err="1"/>
              <a:t>yüzde</a:t>
            </a:r>
            <a:r>
              <a:t> </a:t>
            </a:r>
            <a:r>
              <a:rPr err="1"/>
              <a:t>değişim</a:t>
            </a:r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4242816" y="2071116"/>
            <a:ext cx="1097280" cy="256032"/>
          </a:xfrm>
          <a:prstGeom prst="rightArrow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737860" y="1952244"/>
            <a:ext cx="502920" cy="502920"/>
          </a:xfrm>
          <a:prstGeom prst="roundRect">
            <a:avLst/>
          </a:prstGeom>
          <a:solidFill>
            <a:srgbClr val="418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29" y="267852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F2328"/>
                </a:solidFill>
                <a:latin typeface="Aptos"/>
              </a:defRPr>
            </a:pPr>
            <a:r>
              <a:t>Korelasyon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836" y="3013284"/>
            <a:ext cx="1874519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50" b="0">
                <a:solidFill>
                  <a:srgbClr val="5E6670"/>
                </a:solidFill>
                <a:latin typeface="Aptos"/>
              </a:defRPr>
            </a:pPr>
            <a:r>
              <a:t>Pearson korelasyon matrisi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83096" y="2071116"/>
            <a:ext cx="1097280" cy="256032"/>
          </a:xfrm>
          <a:prstGeom prst="rightArrow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65008" y="1952244"/>
            <a:ext cx="502920" cy="502920"/>
          </a:xfrm>
          <a:prstGeom prst="roundRect">
            <a:avLst/>
          </a:prstGeom>
          <a:solidFill>
            <a:srgbClr val="B9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4960" y="2621235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F2328"/>
                </a:solidFill>
                <a:latin typeface="Aptos"/>
              </a:defRPr>
            </a:pPr>
            <a:r>
              <a:rPr err="1"/>
              <a:t>Ağ</a:t>
            </a: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19933" y="3013284"/>
            <a:ext cx="1874519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50" b="0">
                <a:solidFill>
                  <a:srgbClr val="5E6670"/>
                </a:solidFill>
                <a:latin typeface="Aptos"/>
              </a:defRPr>
            </a:pPr>
            <a:r>
              <a:t>Eşik değeriyle</a:t>
            </a:r>
            <a:r>
              <a:rPr lang="tr-TR"/>
              <a:t> (</a:t>
            </a:r>
            <a:r>
              <a:rPr lang="tr-TR" sz="1150"/>
              <a:t>Threshold)</a:t>
            </a:r>
            <a:r>
              <a:t> kenar listesi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23376" y="2071116"/>
            <a:ext cx="1097280" cy="256032"/>
          </a:xfrm>
          <a:prstGeom prst="rightArrow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05288" y="1947672"/>
            <a:ext cx="502920" cy="502920"/>
          </a:xfrm>
          <a:prstGeom prst="round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7961" y="2613122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F2328"/>
                </a:solidFill>
                <a:latin typeface="Aptos"/>
              </a:defRPr>
            </a:pPr>
            <a:r>
              <a:t>Analiz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8032" y="3031662"/>
            <a:ext cx="1874519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50" b="0">
                <a:solidFill>
                  <a:srgbClr val="5E6670"/>
                </a:solidFill>
                <a:latin typeface="Aptos"/>
              </a:defRPr>
            </a:pPr>
            <a:r>
              <a:t>Merkezilik, topluluk, dayanıklılık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892040"/>
            <a:ext cx="85039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600" b="1">
                <a:solidFill>
                  <a:srgbClr val="1F2328"/>
                </a:solidFill>
                <a:latin typeface="Aptos"/>
              </a:defRPr>
            </a:pPr>
            <a:r>
              <a:t>Bu akışta temel amaç, fiyat seviyelerini doğrudan karşılaştırmak yerine birlikte hareket etme yapısını ağ olarak okumaktır.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4</a:t>
            </a:r>
          </a:p>
        </p:txBody>
      </p:sp>
      <p:pic>
        <p:nvPicPr>
          <p:cNvPr id="32" name="Resim 31">
            <a:extLst>
              <a:ext uri="{FF2B5EF4-FFF2-40B4-BE49-F238E27FC236}">
                <a16:creationId xmlns:a16="http://schemas.microsoft.com/office/drawing/2014/main" id="{90B13A80-478F-D251-7F16-14EEE0932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847" y="1427355"/>
            <a:ext cx="707241" cy="386982"/>
          </a:xfrm>
          <a:prstGeom prst="rect">
            <a:avLst/>
          </a:prstGeom>
        </p:spPr>
      </p:pic>
      <p:pic>
        <p:nvPicPr>
          <p:cNvPr id="34" name="Resim 33">
            <a:extLst>
              <a:ext uri="{FF2B5EF4-FFF2-40B4-BE49-F238E27FC236}">
                <a16:creationId xmlns:a16="http://schemas.microsoft.com/office/drawing/2014/main" id="{7039654E-06C6-1C3F-83C4-1045E3EE8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0663" y="3595159"/>
            <a:ext cx="826061" cy="324524"/>
          </a:xfrm>
          <a:prstGeom prst="rect">
            <a:avLst/>
          </a:prstGeom>
        </p:spPr>
      </p:pic>
      <p:sp>
        <p:nvSpPr>
          <p:cNvPr id="25" name="Rectangle 1">
            <a:extLst>
              <a:ext uri="{FF2B5EF4-FFF2-40B4-BE49-F238E27FC236}">
                <a16:creationId xmlns:a16="http://schemas.microsoft.com/office/drawing/2014/main" id="{836761E0-3FE2-40D2-F58D-C0FB217BBD0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042A445D-F331-16A0-D2ED-75B29BD64A75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im 2">
            <a:extLst>
              <a:ext uri="{FF2B5EF4-FFF2-40B4-BE49-F238E27FC236}">
                <a16:creationId xmlns:a16="http://schemas.microsoft.com/office/drawing/2014/main" id="{1E288538-5CCB-FFA3-3892-BBEA349D5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3359"/>
            <a:ext cx="11137392" cy="4554482"/>
          </a:xfrm>
          <a:prstGeom prst="rect">
            <a:avLst/>
          </a:prstGeom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B889332D-7C72-F0C4-70A3-C6CEEB8123D4}"/>
              </a:ext>
            </a:extLst>
          </p:cNvPr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F2328"/>
                </a:solidFill>
                <a:latin typeface="Aptos"/>
              </a:defRPr>
            </a:pPr>
            <a:r>
              <a:rPr lang="tr-TR"/>
              <a:t>MATRİX</a:t>
            </a:r>
            <a:endParaRPr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B3EBF98-D623-947D-5C76-A29552DB6959}"/>
              </a:ext>
            </a:extLst>
          </p:cNvPr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BA8CB5-B60F-D465-CA25-F206D31E09E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560E4E2-B511-0728-FF76-BFC45E7DAF2B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614959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F2328"/>
                </a:solidFill>
                <a:latin typeface="Aptos"/>
              </a:defRPr>
            </a:pPr>
            <a:r>
              <a:t>Ağ Yapısı ve Temel Ölçütler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086600" y="1554480"/>
            <a:ext cx="19202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1C5691"/>
                </a:solidFill>
                <a:latin typeface="Aptos Display"/>
              </a:defRPr>
            </a:pPr>
            <a:r>
              <a:t>0.124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rPr lang="tr-TR"/>
              <a:t>Düşük bağlantı yoğunluğu</a:t>
            </a:r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86600" y="1554480"/>
            <a:ext cx="64008" cy="822960"/>
          </a:xfrm>
          <a:prstGeom prst="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372600" y="1554480"/>
            <a:ext cx="19202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007E80"/>
                </a:solidFill>
                <a:latin typeface="Aptos Display"/>
              </a:defRPr>
            </a:pPr>
            <a:r>
              <a:t>13 düğüm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rPr lang="tr-TR"/>
              <a:t>Bağlı düğüm sayısı</a:t>
            </a:r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372600" y="1554480"/>
            <a:ext cx="64008" cy="82296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86600" y="2697480"/>
            <a:ext cx="19202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418456"/>
                </a:solidFill>
                <a:latin typeface="Aptos Display"/>
              </a:defRPr>
            </a:pPr>
            <a:r>
              <a:rPr lang="tr-TR"/>
              <a:t>9</a:t>
            </a:r>
            <a:endParaRPr/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rPr lang="tr-TR" sz="1000"/>
              <a:t>Bağımsız grup sayısı</a:t>
            </a:r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086600" y="2697480"/>
            <a:ext cx="64008" cy="822960"/>
          </a:xfrm>
          <a:prstGeom prst="rect">
            <a:avLst/>
          </a:prstGeom>
          <a:solidFill>
            <a:srgbClr val="418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72600" y="2697480"/>
            <a:ext cx="19202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B94242"/>
                </a:solidFill>
                <a:latin typeface="Aptos Display"/>
              </a:defRPr>
            </a:pPr>
            <a:r>
              <a:t>6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En büyük bileşen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697480"/>
            <a:ext cx="64008" cy="822960"/>
          </a:xfrm>
          <a:prstGeom prst="rect">
            <a:avLst/>
          </a:prstGeom>
          <a:solidFill>
            <a:srgbClr val="B9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069080"/>
            <a:ext cx="420624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400">
                <a:solidFill>
                  <a:srgbClr val="1F2328"/>
                </a:solidFill>
                <a:latin typeface="Aptos"/>
              </a:defRPr>
            </a:pPr>
            <a:r>
              <a:rPr sz="1600"/>
              <a:t>Hisse senedi endeksleri ve VIX belirgin bir çekirdek oluşturdu.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400">
                <a:solidFill>
                  <a:srgbClr val="1F2328"/>
                </a:solidFill>
                <a:latin typeface="Aptos"/>
              </a:defRPr>
            </a:pPr>
            <a:r>
              <a:rPr sz="1600"/>
              <a:t>Bazı varlıklar eşik değerine göre izole kaldı.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400">
                <a:solidFill>
                  <a:srgbClr val="1F2328"/>
                </a:solidFill>
                <a:latin typeface="Aptos"/>
              </a:defRPr>
            </a:pPr>
            <a:r>
              <a:rPr lang="tr-TR" sz="1600"/>
              <a:t>Ağ yapısı merkezde yoğun, çevrede daha parçalı bir görünüm sergiledi.</a:t>
            </a:r>
            <a:endParaRPr sz="1600"/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5</a:t>
            </a:r>
          </a:p>
        </p:txBody>
      </p:sp>
      <p:pic>
        <p:nvPicPr>
          <p:cNvPr id="15" name="Picture 14" descr="network_graph_enh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9888"/>
            <a:ext cx="6263640" cy="4469295"/>
          </a:xfrm>
          <a:prstGeom prst="rect">
            <a:avLst/>
          </a:prstGeom>
        </p:spPr>
      </p:pic>
      <p:pic>
        <p:nvPicPr>
          <p:cNvPr id="16" name="Resim 15">
            <a:extLst>
              <a:ext uri="{FF2B5EF4-FFF2-40B4-BE49-F238E27FC236}">
                <a16:creationId xmlns:a16="http://schemas.microsoft.com/office/drawing/2014/main" id="{D2E89764-F171-4C57-C02B-7BA98F853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936484"/>
            <a:ext cx="11137392" cy="65431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65CDA55-054B-4ACB-93A0-FE844633C244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E4378CB5-823C-A957-B728-D667C07489C0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4" descr="network_graph_enhanced.png">
            <a:extLst>
              <a:ext uri="{FF2B5EF4-FFF2-40B4-BE49-F238E27FC236}">
                <a16:creationId xmlns:a16="http://schemas.microsoft.com/office/drawing/2014/main" id="{68F26468-11AC-BCC5-E2A8-555B70E72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894" y="85344"/>
            <a:ext cx="8892989" cy="6687312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0231920A-6B2C-B918-D4EC-3A277E5E8F4B}"/>
              </a:ext>
            </a:extLst>
          </p:cNvPr>
          <p:cNvSpPr txBox="1"/>
          <p:nvPr/>
        </p:nvSpPr>
        <p:spPr>
          <a:xfrm>
            <a:off x="239828" y="6108556"/>
            <a:ext cx="30165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200"/>
              <a:t>renk/boyut -- node degree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200"/>
              <a:t>kenar kalınlığı -- korelasyon boyutu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200"/>
              <a:t>kenar rengi -- korelasyon(+,-)</a:t>
            </a:r>
          </a:p>
          <a:p>
            <a:endParaRPr lang="tr-TR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6EE02D-9EAB-ECC4-1653-D620C2AE7777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98773BD-DEED-97D5-CD86-234060DA34A6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40767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F2328"/>
                </a:solidFill>
                <a:latin typeface="Aptos"/>
              </a:defRPr>
            </a:pPr>
            <a:r>
              <a:t>Merkezilik Bulguları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op_degree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40180"/>
            <a:ext cx="58978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405890"/>
            <a:ext cx="1645920" cy="2743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1400" b="1">
                <a:solidFill>
                  <a:srgbClr val="1C5691"/>
                </a:solidFill>
                <a:latin typeface="Aptos"/>
              </a:defRPr>
            </a:pPr>
            <a:r>
              <a:t>Degree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89052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1. DAX</a:t>
            </a:r>
            <a:br>
              <a:rPr/>
            </a:br>
            <a:r>
              <a:t>0.2941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53060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2. SP500</a:t>
            </a:r>
            <a:br>
              <a:rPr/>
            </a:br>
            <a:r>
              <a:t>0.2941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17068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3. FTSE100</a:t>
            </a:r>
            <a:br>
              <a:rPr/>
            </a:br>
            <a:r>
              <a:t>0.2941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81076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4. VIX</a:t>
            </a:r>
            <a:br>
              <a:rPr/>
            </a:br>
            <a:r>
              <a:t>0.2941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45084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5. Dow_Jones</a:t>
            </a:r>
            <a:br>
              <a:rPr/>
            </a:br>
            <a:r>
              <a:t>0.2941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405890"/>
            <a:ext cx="1645920" cy="2743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1400" b="1">
                <a:solidFill>
                  <a:srgbClr val="B94242"/>
                </a:solidFill>
                <a:latin typeface="Aptos"/>
              </a:defRPr>
            </a:pPr>
            <a:r>
              <a:t>Betweenness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89052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1. VIX</a:t>
            </a:r>
            <a:br>
              <a:rPr/>
            </a:br>
            <a:r>
              <a:rPr>
                <a:solidFill>
                  <a:srgbClr val="FF0000"/>
                </a:solidFill>
              </a:rPr>
              <a:t>0.0735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53060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2. Gold</a:t>
            </a:r>
            <a:br>
              <a:rPr/>
            </a:br>
            <a:r>
              <a:t>0.0074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7068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3. Silver</a:t>
            </a:r>
            <a:br>
              <a:rPr/>
            </a:br>
            <a:r>
              <a:t>0.0000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81076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4. Brent_Oil</a:t>
            </a:r>
            <a:br>
              <a:rPr/>
            </a:br>
            <a:r>
              <a:t>0.0000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45084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5. Natural_Gas</a:t>
            </a:r>
            <a:br>
              <a:rPr/>
            </a:br>
            <a:r>
              <a:t>0.0000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1405890"/>
            <a:ext cx="1645920" cy="2743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1400" b="1">
                <a:solidFill>
                  <a:srgbClr val="418456"/>
                </a:solidFill>
                <a:latin typeface="Aptos"/>
              </a:defRPr>
            </a:pPr>
            <a:r>
              <a:t>Eigenvector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189052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1. DAX</a:t>
            </a:r>
            <a:br>
              <a:rPr/>
            </a:br>
            <a:r>
              <a:t>0.4082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253060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2. SP500</a:t>
            </a:r>
            <a:br>
              <a:rPr/>
            </a:br>
            <a:r>
              <a:t>0.4082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317068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3. FTSE100</a:t>
            </a:r>
            <a:br>
              <a:rPr/>
            </a:br>
            <a:r>
              <a:t>0.4082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381076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4. VIX</a:t>
            </a:r>
            <a:br>
              <a:rPr/>
            </a:br>
            <a:r>
              <a:t>0.4082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4450842"/>
            <a:ext cx="164592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50" b="0">
                <a:solidFill>
                  <a:srgbClr val="1F2328"/>
                </a:solidFill>
                <a:latin typeface="Aptos"/>
              </a:defRPr>
            </a:pPr>
            <a:r>
              <a:t>5. Dow_Jones</a:t>
            </a:r>
            <a:br>
              <a:rPr/>
            </a:br>
            <a:r>
              <a:t>0.4082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6306" y="5038255"/>
            <a:ext cx="5269454" cy="850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1">
                <a:solidFill>
                  <a:srgbClr val="1F2328"/>
                </a:solidFill>
                <a:latin typeface="Aptos"/>
              </a:defRPr>
            </a:pPr>
            <a:r>
              <a:rPr sz="1600"/>
              <a:t>VIX, </a:t>
            </a:r>
            <a:r>
              <a:rPr sz="1600">
                <a:solidFill>
                  <a:srgbClr val="FF0000"/>
                </a:solidFill>
              </a:rPr>
              <a:t>betweenness centrality</a:t>
            </a:r>
            <a:r>
              <a:rPr sz="1600"/>
              <a:t> açısından öne çıkarak risk göstergesi rolünü ağ içinde de gösterdi</a:t>
            </a:r>
            <a:r>
              <a:rPr lang="tr-TR" sz="1600"/>
              <a:t> öte yandan </a:t>
            </a:r>
            <a:r>
              <a:rPr lang="tr-TR" sz="1600" b="1"/>
              <a:t>farklı piyasa kümeleri arasında köprü rolü üstlendi.</a:t>
            </a:r>
            <a:endParaRPr sz="1600"/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6</a:t>
            </a: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259FC58A-8A48-7A96-F379-400FED4DC80C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860E3E55-C6C5-84F5-23AA-73FD5804DF5B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im 2">
            <a:extLst>
              <a:ext uri="{FF2B5EF4-FFF2-40B4-BE49-F238E27FC236}">
                <a16:creationId xmlns:a16="http://schemas.microsoft.com/office/drawing/2014/main" id="{80DA6D87-C0B3-A175-5458-BB1ECECB8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7598852" cy="3965511"/>
          </a:xfrm>
          <a:prstGeom prst="rect">
            <a:avLst/>
          </a:prstGeom>
        </p:spPr>
      </p:pic>
      <p:pic>
        <p:nvPicPr>
          <p:cNvPr id="5" name="Resim 4">
            <a:extLst>
              <a:ext uri="{FF2B5EF4-FFF2-40B4-BE49-F238E27FC236}">
                <a16:creationId xmlns:a16="http://schemas.microsoft.com/office/drawing/2014/main" id="{CEC89A22-4A39-A642-2523-FAA4B5BB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2547" y="2983121"/>
            <a:ext cx="7190791" cy="38748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272EF96-DC0A-C07C-FF24-7F2482A3B8D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6D34A2E-00ED-987B-F40A-1A9BF520463F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316107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F2328"/>
                </a:solidFill>
                <a:latin typeface="Aptos"/>
              </a:defRPr>
            </a:pPr>
            <a:r>
              <a:t>Topluluklar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06640" y="1504188"/>
            <a:ext cx="42519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1C5691"/>
                </a:solidFill>
                <a:latin typeface="Aptos Display"/>
              </a:defRPr>
            </a:pPr>
            <a:r>
              <a:t>EUR_TRY, USD_TRY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endParaRPr lang="tr-TR"/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Topluluk 0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504188"/>
            <a:ext cx="64008" cy="713232"/>
          </a:xfrm>
          <a:prstGeom prst="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406640" y="2418588"/>
            <a:ext cx="42519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007E80"/>
                </a:solidFill>
                <a:latin typeface="Aptos Display"/>
              </a:defRPr>
            </a:pPr>
            <a:r>
              <a:t>Dollar_Index, Gold, Silver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endParaRPr lang="tr-TR"/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Topluluk 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418588"/>
            <a:ext cx="64008" cy="713232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06640" y="3332988"/>
            <a:ext cx="42519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418456"/>
                </a:solidFill>
                <a:latin typeface="Aptos Display"/>
              </a:defRPr>
            </a:pPr>
            <a:r>
              <a:rPr>
                <a:solidFill>
                  <a:schemeClr val="accent6">
                    <a:lumMod val="75000"/>
                  </a:schemeClr>
                </a:solidFill>
              </a:rPr>
              <a:t>DAX, Dow_Jones, FTSE100, NASDAQ, SP500, VIX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Topluluk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3332988"/>
            <a:ext cx="64008" cy="713232"/>
          </a:xfrm>
          <a:prstGeom prst="rect">
            <a:avLst/>
          </a:prstGeom>
          <a:solidFill>
            <a:srgbClr val="418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06640" y="4247388"/>
            <a:ext cx="42519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B94242"/>
                </a:solidFill>
                <a:latin typeface="Aptos Display"/>
              </a:defRPr>
            </a:pPr>
            <a:r>
              <a:t>Brent_Oil, WTI_Oil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endParaRPr lang="tr-TR"/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Topluluk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247388"/>
            <a:ext cx="64008" cy="713232"/>
          </a:xfrm>
          <a:prstGeom prst="rect">
            <a:avLst/>
          </a:prstGeom>
          <a:solidFill>
            <a:srgbClr val="B9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06640" y="5756148"/>
            <a:ext cx="4297680" cy="685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1350" b="1">
                <a:solidFill>
                  <a:srgbClr val="1F2328"/>
                </a:solidFill>
                <a:latin typeface="Aptos"/>
              </a:defRPr>
            </a:pPr>
            <a:r>
              <a:rPr err="1"/>
              <a:t>Topluluklar</a:t>
            </a:r>
            <a:r>
              <a:t> </a:t>
            </a:r>
            <a:r>
              <a:rPr err="1"/>
              <a:t>finansal</a:t>
            </a:r>
            <a:r>
              <a:t> </a:t>
            </a:r>
            <a:r>
              <a:rPr err="1"/>
              <a:t>segmentlerin</a:t>
            </a:r>
            <a:r>
              <a:t> </a:t>
            </a:r>
            <a:r>
              <a:rPr err="1"/>
              <a:t>ayrışmasını</a:t>
            </a:r>
            <a:r>
              <a:t> </a:t>
            </a:r>
            <a:r>
              <a:rPr err="1"/>
              <a:t>gösterir</a:t>
            </a:r>
            <a:r>
              <a:t>: </a:t>
            </a:r>
            <a:r>
              <a:rPr err="1"/>
              <a:t>hisse</a:t>
            </a:r>
            <a:r>
              <a:t>-risk </a:t>
            </a:r>
            <a:r>
              <a:rPr err="1"/>
              <a:t>grubu</a:t>
            </a:r>
            <a:r>
              <a:t>, </a:t>
            </a:r>
            <a:r>
              <a:rPr err="1"/>
              <a:t>değerli</a:t>
            </a:r>
            <a:r>
              <a:t> </a:t>
            </a:r>
            <a:r>
              <a:rPr err="1"/>
              <a:t>metaller</a:t>
            </a:r>
            <a:r>
              <a:t>, </a:t>
            </a:r>
            <a:r>
              <a:rPr err="1"/>
              <a:t>döviz</a:t>
            </a:r>
            <a:r>
              <a:t> </a:t>
            </a:r>
            <a:r>
              <a:rPr err="1"/>
              <a:t>ve</a:t>
            </a:r>
            <a:r>
              <a:t> </a:t>
            </a:r>
            <a:r>
              <a:rPr err="1"/>
              <a:t>enerji</a:t>
            </a:r>
            <a:r>
              <a:t> </a:t>
            </a:r>
            <a:r>
              <a:rPr err="1"/>
              <a:t>varlıkları</a:t>
            </a:r>
            <a:r>
              <a:t> </a:t>
            </a:r>
            <a:r>
              <a:rPr err="1"/>
              <a:t>ayrı</a:t>
            </a:r>
            <a:r>
              <a:t> </a:t>
            </a:r>
            <a:r>
              <a:rPr err="1"/>
              <a:t>yapılar</a:t>
            </a:r>
            <a:r>
              <a:t> </a:t>
            </a:r>
            <a:r>
              <a:rPr err="1"/>
              <a:t>oluşturdu</a:t>
            </a:r>
            <a: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129" y="5218624"/>
            <a:ext cx="4297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250" b="1">
                <a:solidFill>
                  <a:srgbClr val="B94242"/>
                </a:solidFill>
                <a:latin typeface="Aptos"/>
              </a:defRPr>
            </a:pPr>
            <a:r>
              <a:rPr>
                <a:solidFill>
                  <a:schemeClr val="accent6">
                    <a:lumMod val="75000"/>
                  </a:schemeClr>
                </a:solidFill>
              </a:rPr>
              <a:t>En </a:t>
            </a:r>
            <a:r>
              <a:rPr err="1">
                <a:solidFill>
                  <a:schemeClr val="accent6">
                    <a:lumMod val="75000"/>
                  </a:schemeClr>
                </a:solidFill>
              </a:rPr>
              <a:t>büyük</a:t>
            </a:r>
            <a:r>
              <a:rPr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err="1">
                <a:solidFill>
                  <a:schemeClr val="accent6">
                    <a:lumMod val="75000"/>
                  </a:schemeClr>
                </a:solidFill>
              </a:rPr>
              <a:t>topluluk</a:t>
            </a:r>
            <a:r>
              <a:rPr>
                <a:solidFill>
                  <a:schemeClr val="accent6">
                    <a:lumMod val="75000"/>
                  </a:schemeClr>
                </a:solidFill>
              </a:rPr>
              <a:t>: Community 2</a:t>
            </a:r>
          </a:p>
          <a:p>
            <a:pPr algn="ctr">
              <a:defRPr sz="1100">
                <a:solidFill>
                  <a:srgbClr val="1F2328"/>
                </a:solidFill>
                <a:latin typeface="Aptos"/>
              </a:defRPr>
            </a:pPr>
            <a:r>
              <a:t>SP500, NASDAQ, </a:t>
            </a:r>
            <a:r>
              <a:rPr err="1"/>
              <a:t>Dow_Jones</a:t>
            </a:r>
            <a:r>
              <a:t>, DAX, FTSE100 </a:t>
            </a:r>
            <a:r>
              <a:rPr err="1"/>
              <a:t>ve</a:t>
            </a:r>
            <a:r>
              <a:t> VIX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71" y="1358422"/>
            <a:ext cx="7198658" cy="520697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B28BC28-C133-7395-1938-16D5846C317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A9ECF093-A1BF-FA8D-B6F4-CCBCA5D028F3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400" b="1">
                <a:solidFill>
                  <a:srgbClr val="1F2328"/>
                </a:solidFill>
                <a:latin typeface="Aptos"/>
              </a:defRPr>
            </a:pPr>
            <a:r>
              <a:rPr lang="tr-TR"/>
              <a:t>Merkezi Yapı ve Genel Sonuçlar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0352" y="1143000"/>
            <a:ext cx="11109960" cy="13716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2057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1C5691"/>
                </a:solidFill>
                <a:latin typeface="Aptos Display"/>
              </a:defRPr>
            </a:pPr>
            <a:r>
              <a:t>19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Başlangıç kenar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64008" cy="822960"/>
          </a:xfrm>
          <a:prstGeom prst="rect">
            <a:avLst/>
          </a:prstGeom>
          <a:solidFill>
            <a:srgbClr val="1C5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54680" y="1508760"/>
            <a:ext cx="2057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007E80"/>
                </a:solidFill>
                <a:latin typeface="Aptos Display"/>
              </a:defRPr>
            </a:pPr>
            <a:r>
              <a:t>14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SP500 çıkarılınca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508760"/>
            <a:ext cx="64008" cy="82296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577840" y="1508760"/>
            <a:ext cx="2057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64008" rtlCol="0" anchor="ctr"/>
          <a:lstStyle/>
          <a:p>
            <a:pPr algn="ctr">
              <a:defRPr sz="1900" b="1">
                <a:solidFill>
                  <a:srgbClr val="B94242"/>
                </a:solidFill>
                <a:latin typeface="Aptos Display"/>
              </a:defRPr>
            </a:pPr>
            <a:r>
              <a:t>14</a:t>
            </a:r>
          </a:p>
          <a:p>
            <a:pPr>
              <a:defRPr sz="1000">
                <a:solidFill>
                  <a:srgbClr val="5E6670"/>
                </a:solidFill>
                <a:latin typeface="Aptos"/>
              </a:defRPr>
            </a:pPr>
            <a:r>
              <a:t>VIX çıkarılınca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508760"/>
            <a:ext cx="64008" cy="822960"/>
          </a:xfrm>
          <a:prstGeom prst="rect">
            <a:avLst/>
          </a:prstGeom>
          <a:solidFill>
            <a:srgbClr val="B9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246120"/>
            <a:ext cx="54864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1F2328"/>
                </a:solidFill>
                <a:latin typeface="Aptos"/>
              </a:defRPr>
            </a:pPr>
            <a:r>
              <a:t>Merkezi düğüm çıkarma kenar sayısını azaltıyor.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1F2328"/>
                </a:solidFill>
                <a:latin typeface="Aptos"/>
              </a:defRPr>
            </a:pPr>
            <a:r>
              <a:t>Ağ tamamen çökmüyor; ancak çekirdek yapı zayıflıyor.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1F2328"/>
                </a:solidFill>
                <a:latin typeface="Aptos"/>
              </a:defRPr>
            </a:pPr>
            <a:r>
              <a:t>Hisse senedi endeksleri ve VIX en dikkat çeken merkez yapıyı oluşturuyor.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1F2328"/>
                </a:solidFill>
                <a:latin typeface="Aptos"/>
              </a:defRPr>
            </a:pPr>
            <a:r>
              <a:t>Sosyal ağ analizi finansal varlıkları sistem olarak okumayı kolaylaştırıyor.</a:t>
            </a:r>
          </a:p>
        </p:txBody>
      </p:sp>
      <p:pic>
        <p:nvPicPr>
          <p:cNvPr id="13" name="Picture 12" descr="degre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683763"/>
            <a:ext cx="5887122" cy="327776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t>8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90DC5FDA-960D-1A60-9344-5DA6B030A28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BBE530BA-4E2C-23EE-D416-415B977295B3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2200" b="1">
                <a:solidFill>
                  <a:srgbClr val="1F2328"/>
                </a:solidFill>
                <a:latin typeface="Aptos"/>
              </a:defRPr>
            </a:pPr>
            <a:r>
              <a:t>Finansal Ağ Analizi Pipeline Akışı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13232"/>
            <a:ext cx="11567160" cy="571500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D29F54F6-537C-5445-A528-BA44B3241D9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3656398-868E-CE37-B9BD-DAF4C21C27EE}"/>
              </a:ext>
            </a:extLst>
          </p:cNvPr>
          <p:cNvSpPr/>
          <p:nvPr/>
        </p:nvSpPr>
        <p:spPr>
          <a:xfrm>
            <a:off x="12030705" y="0"/>
            <a:ext cx="164592" cy="68580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627</Words>
  <Application>Microsoft Office PowerPoint</Application>
  <PresentationFormat>Geniş ekran</PresentationFormat>
  <Paragraphs>135</Paragraphs>
  <Slides>13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Emir Can Güney</cp:lastModifiedBy>
  <cp:revision>27</cp:revision>
  <dcterms:created xsi:type="dcterms:W3CDTF">2013-01-27T09:14:16Z</dcterms:created>
  <dcterms:modified xsi:type="dcterms:W3CDTF">2026-05-22T11:05:19Z</dcterms:modified>
  <cp:category/>
</cp:coreProperties>
</file>