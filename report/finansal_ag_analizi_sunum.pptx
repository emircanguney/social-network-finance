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64008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Finansal Varlıklar Arasındaki İlişkilerin Sosyal Ağ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828800"/>
            <a:ext cx="62179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D2DEE8"/>
                </a:solidFill>
                <a:latin typeface="Aptos"/>
              </a:defRPr>
            </a:pPr>
            <a:r>
              <a:t>2014-2024 dönemi için korelasyon tabanlı finansal ağ modeli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49240"/>
            <a:ext cx="3840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DAE5ED"/>
                </a:solidFill>
                <a:latin typeface="Aptos"/>
              </a:defRPr>
            </a:pPr>
            <a:r>
              <a:t>Emir Can Güney</a:t>
            </a:r>
            <a:br/>
            <a:r>
              <a:t>Sosyal Ağ Analizi Projesi</a:t>
            </a:r>
          </a:p>
        </p:txBody>
      </p:sp>
      <p:pic>
        <p:nvPicPr>
          <p:cNvPr id="6" name="Picture 5" descr="network_graph_enh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594360"/>
            <a:ext cx="4800600" cy="5440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900" b="0">
                <a:solidFill>
                  <a:srgbClr val="5E6670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F2328"/>
                </a:solidFill>
                <a:latin typeface="Aptos"/>
              </a:defRPr>
            </a:pPr>
            <a:r>
              <a:t>Amaç ve Ağ Mantığı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43000"/>
            <a:ext cx="1110996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864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1F2328"/>
                </a:solidFill>
                <a:latin typeface="Aptos"/>
              </a:defRPr>
            </a:pPr>
            <a:r>
              <a:t>Bu çalışmada finansal varlıkları tek tek değil, birbirleriyle kurdukları ilişkiler üzerinden inceledim.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06040"/>
            <a:ext cx="5486400" cy="2834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328"/>
                </a:solidFill>
                <a:latin typeface="Aptos"/>
              </a:defRPr>
            </a:pPr>
            <a:r>
              <a:t>- Düğümler finansal varlıkları temsil eder.</a:t>
            </a:r>
          </a:p>
          <a:p>
            <a:pPr>
              <a:spcAft>
                <a:spcPts val="800"/>
              </a:spcAft>
              <a:defRPr sz="1700">
                <a:solidFill>
                  <a:srgbClr val="1F2328"/>
                </a:solidFill>
                <a:latin typeface="Aptos"/>
              </a:defRPr>
            </a:pPr>
            <a:r>
              <a:t>- Kenarlar güçlü korelasyon ilişkilerini temsil eder.</a:t>
            </a:r>
          </a:p>
          <a:p>
            <a:pPr>
              <a:spcAft>
                <a:spcPts val="800"/>
              </a:spcAft>
              <a:defRPr sz="1700">
                <a:solidFill>
                  <a:srgbClr val="1F2328"/>
                </a:solidFill>
                <a:latin typeface="Aptos"/>
              </a:defRPr>
            </a:pPr>
            <a:r>
              <a:t>- Ağ yönsüz ve ağırlıklı olarak kuruldu.</a:t>
            </a:r>
          </a:p>
          <a:p>
            <a:pPr>
              <a:spcAft>
                <a:spcPts val="800"/>
              </a:spcAft>
              <a:defRPr sz="1700">
                <a:solidFill>
                  <a:srgbClr val="1F2328"/>
                </a:solidFill>
                <a:latin typeface="Aptos"/>
              </a:defRPr>
            </a:pPr>
            <a:r>
              <a:t>- Temel soru: Piyasa varlıkları hangi merkezler ve gruplar etrafında toplanıyor.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60020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1C5691"/>
                </a:solidFill>
                <a:latin typeface="Aptos Display"/>
              </a:defRPr>
            </a:pPr>
            <a:r>
              <a:t>18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Düğüm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12280" y="1600200"/>
            <a:ext cx="64008" cy="868680"/>
          </a:xfrm>
          <a:prstGeom prst="rect">
            <a:avLst/>
          </a:prstGeom>
          <a:solidFill>
            <a:srgbClr val="1C5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89720" y="160020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007E80"/>
                </a:solidFill>
                <a:latin typeface="Aptos Display"/>
              </a:defRPr>
            </a:pPr>
            <a:r>
              <a:t>19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Kenar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9720" y="1600200"/>
            <a:ext cx="64008" cy="868680"/>
          </a:xfrm>
          <a:prstGeom prst="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12280" y="278892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418456"/>
                </a:solidFill>
                <a:latin typeface="Aptos Display"/>
              </a:defRPr>
            </a:pPr>
            <a:r>
              <a:t>|r| &gt;= 0.40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Eşik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2788920"/>
            <a:ext cx="64008" cy="868680"/>
          </a:xfrm>
          <a:prstGeom prst="rect">
            <a:avLst/>
          </a:prstGeom>
          <a:solidFill>
            <a:srgbClr val="418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89720" y="278892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B94242"/>
                </a:solidFill>
                <a:latin typeface="Aptos Display"/>
              </a:defRPr>
            </a:pPr>
            <a:r>
              <a:t>Yönsüz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Ağ tipi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2788920"/>
            <a:ext cx="64008" cy="868680"/>
          </a:xfrm>
          <a:prstGeom prst="rect">
            <a:avLst/>
          </a:prstGeom>
          <a:solidFill>
            <a:srgbClr val="B9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4160520"/>
            <a:ext cx="42976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0">
                <a:solidFill>
                  <a:srgbClr val="5E6670"/>
                </a:solidFill>
                <a:latin typeface="Aptos"/>
              </a:defRPr>
            </a:pPr>
            <a:r>
              <a:t>Korelasyonun işareti korundu: pozitif ilişkiler birlikte hareketi, negatif ilişkiler ters yönlü hareketi gösterir.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900" b="0">
                <a:solidFill>
                  <a:srgbClr val="5E667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F2328"/>
                </a:solidFill>
                <a:latin typeface="Aptos"/>
              </a:defRPr>
            </a:pPr>
            <a:r>
              <a:t>Veri Seti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43000"/>
            <a:ext cx="1110996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21208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328"/>
                </a:solidFill>
                <a:latin typeface="Aptos"/>
              </a:defRPr>
            </a:pPr>
            <a:r>
              <a:t>- Veri kaynağı: Yahoo Finance.</a:t>
            </a:r>
          </a:p>
          <a:p>
            <a:pPr>
              <a:spcAft>
                <a:spcPts val="800"/>
              </a:spcAft>
              <a:defRPr sz="1700">
                <a:solidFill>
                  <a:srgbClr val="1F2328"/>
                </a:solidFill>
                <a:latin typeface="Aptos"/>
              </a:defRPr>
            </a:pPr>
            <a:r>
              <a:t>- Dönem: 2014-2024.</a:t>
            </a:r>
          </a:p>
          <a:p>
            <a:pPr>
              <a:spcAft>
                <a:spcPts val="800"/>
              </a:spcAft>
              <a:defRPr sz="1700">
                <a:solidFill>
                  <a:srgbClr val="1F2328"/>
                </a:solidFill>
                <a:latin typeface="Aptos"/>
              </a:defRPr>
            </a:pPr>
            <a:r>
              <a:t>- Varlıklar: metal, enerji, hisse endeksi, döviz, kripto, risk ve faiz göstergeleri.</a:t>
            </a:r>
          </a:p>
          <a:p>
            <a:pPr>
              <a:spcAft>
                <a:spcPts val="800"/>
              </a:spcAft>
              <a:defRPr sz="1700">
                <a:solidFill>
                  <a:srgbClr val="1F2328"/>
                </a:solidFill>
                <a:latin typeface="Aptos"/>
              </a:defRPr>
            </a:pPr>
            <a:r>
              <a:t>- Ham fiyatlardan günlük getiri serileri üretildi.</a:t>
            </a:r>
          </a:p>
          <a:p>
            <a:pPr>
              <a:spcAft>
                <a:spcPts val="800"/>
              </a:spcAft>
              <a:defRPr sz="1700">
                <a:solidFill>
                  <a:srgbClr val="1F2328"/>
                </a:solidFill>
                <a:latin typeface="Aptos"/>
              </a:defRPr>
            </a:pPr>
            <a:r>
              <a:t>- Ağ verisi hazır alınmadı; korelasyonlardan oluşturuldu.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00200"/>
            <a:ext cx="2240280" cy="384048"/>
          </a:xfrm>
          <a:prstGeom prst="roundRect">
            <a:avLst/>
          </a:prstGeom>
          <a:solidFill>
            <a:srgbClr val="1C5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Altın / Gümüş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600200"/>
            <a:ext cx="2240280" cy="384048"/>
          </a:xfrm>
          <a:prstGeom prst="round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Petrol / Gaz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13432"/>
            <a:ext cx="2240280" cy="384048"/>
          </a:xfrm>
          <a:prstGeom prst="roundRect">
            <a:avLst/>
          </a:prstGeom>
          <a:solidFill>
            <a:srgbClr val="418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SP500 / NASDAQ / DAX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2313432"/>
            <a:ext cx="2240280" cy="384048"/>
          </a:xfrm>
          <a:prstGeom prst="roundRect">
            <a:avLst/>
          </a:prstGeom>
          <a:solidFill>
            <a:srgbClr val="B9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BIST100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26664"/>
            <a:ext cx="2240280" cy="384048"/>
          </a:xfrm>
          <a:prstGeom prst="roundRect">
            <a:avLst/>
          </a:prstGeom>
          <a:solidFill>
            <a:srgbClr val="1C5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USD_TRY / EUR_TRY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3026664"/>
            <a:ext cx="2240280" cy="384048"/>
          </a:xfrm>
          <a:prstGeom prst="round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Bitcoin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739896"/>
            <a:ext cx="2240280" cy="384048"/>
          </a:xfrm>
          <a:prstGeom prst="roundRect">
            <a:avLst/>
          </a:prstGeom>
          <a:solidFill>
            <a:srgbClr val="B9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VIX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3739896"/>
            <a:ext cx="2240280" cy="384048"/>
          </a:xfrm>
          <a:prstGeom prst="roundRect">
            <a:avLst/>
          </a:prstGeom>
          <a:solidFill>
            <a:srgbClr val="418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Dolar Endeksi / Tahvil</a:t>
            </a:r>
          </a:p>
        </p:txBody>
      </p:sp>
      <p:pic>
        <p:nvPicPr>
          <p:cNvPr id="13" name="Picture 1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4663440"/>
            <a:ext cx="4937760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900" b="0">
                <a:solidFill>
                  <a:srgbClr val="5E667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F2328"/>
                </a:solidFill>
                <a:latin typeface="Aptos"/>
              </a:defRPr>
            </a:pPr>
            <a:r>
              <a:t>Analiz Akışı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43000"/>
            <a:ext cx="1110996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02920" cy="502920"/>
          </a:xfrm>
          <a:prstGeom prst="roundRect">
            <a:avLst/>
          </a:prstGeom>
          <a:solidFill>
            <a:srgbClr val="1C5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645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1F2328"/>
                </a:solidFill>
                <a:latin typeface="Aptos"/>
              </a:defRPr>
            </a:pPr>
            <a:r>
              <a:t>Fiyat verisi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874519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50" b="0">
                <a:solidFill>
                  <a:srgbClr val="5E6670"/>
                </a:solidFill>
                <a:latin typeface="Aptos"/>
              </a:defRPr>
            </a:pPr>
            <a:r>
              <a:t>Yahoo Finance üzerinden fiyat serileri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344168" y="1947672"/>
            <a:ext cx="1097280" cy="256032"/>
          </a:xfrm>
          <a:prstGeom prst="rightArrow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26080" y="1828800"/>
            <a:ext cx="502920" cy="502920"/>
          </a:xfrm>
          <a:prstGeom prst="round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514600"/>
            <a:ext cx="1645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1F2328"/>
                </a:solidFill>
                <a:latin typeface="Aptos"/>
              </a:defRPr>
            </a:pPr>
            <a:r>
              <a:t>Getiri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971800"/>
            <a:ext cx="1874519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50" b="0">
                <a:solidFill>
                  <a:srgbClr val="5E6670"/>
                </a:solidFill>
                <a:latin typeface="Aptos"/>
              </a:defRPr>
            </a:pPr>
            <a:r>
              <a:t>Günlük yüzde değişim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584448" y="1947672"/>
            <a:ext cx="1097280" cy="256032"/>
          </a:xfrm>
          <a:prstGeom prst="rightArrow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60" y="1828800"/>
            <a:ext cx="502920" cy="502920"/>
          </a:xfrm>
          <a:prstGeom prst="roundRect">
            <a:avLst/>
          </a:prstGeom>
          <a:solidFill>
            <a:srgbClr val="418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645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1F2328"/>
                </a:solidFill>
                <a:latin typeface="Aptos"/>
              </a:defRPr>
            </a:pPr>
            <a:r>
              <a:t>Korelasyon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971800"/>
            <a:ext cx="1874519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50" b="0">
                <a:solidFill>
                  <a:srgbClr val="5E6670"/>
                </a:solidFill>
                <a:latin typeface="Aptos"/>
              </a:defRPr>
            </a:pPr>
            <a:r>
              <a:t>Pearson korelasyon matrisi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24728" y="1947672"/>
            <a:ext cx="1097280" cy="256032"/>
          </a:xfrm>
          <a:prstGeom prst="rightArrow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06640" y="1828800"/>
            <a:ext cx="502920" cy="502920"/>
          </a:xfrm>
          <a:prstGeom prst="roundRect">
            <a:avLst/>
          </a:prstGeom>
          <a:solidFill>
            <a:srgbClr val="B9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514600"/>
            <a:ext cx="1645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1F2328"/>
                </a:solidFill>
                <a:latin typeface="Aptos"/>
              </a:defRPr>
            </a:pPr>
            <a:r>
              <a:t>Ağ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971800"/>
            <a:ext cx="1874519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50" b="0">
                <a:solidFill>
                  <a:srgbClr val="5E6670"/>
                </a:solidFill>
                <a:latin typeface="Aptos"/>
              </a:defRPr>
            </a:pPr>
            <a:r>
              <a:t>Eşik değeriyle kenar listesi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065008" y="1947672"/>
            <a:ext cx="1097280" cy="256032"/>
          </a:xfrm>
          <a:prstGeom prst="rightArrow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46920" y="1828800"/>
            <a:ext cx="502920" cy="502920"/>
          </a:xfrm>
          <a:prstGeom prst="roundRect">
            <a:avLst/>
          </a:prstGeom>
          <a:solidFill>
            <a:srgbClr val="1C5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514600"/>
            <a:ext cx="1645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1F2328"/>
                </a:solidFill>
                <a:latin typeface="Aptos"/>
              </a:defRPr>
            </a:pPr>
            <a:r>
              <a:t>Analiz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971800"/>
            <a:ext cx="1874519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50" b="0">
                <a:solidFill>
                  <a:srgbClr val="5E6670"/>
                </a:solidFill>
                <a:latin typeface="Aptos"/>
              </a:defRPr>
            </a:pPr>
            <a:r>
              <a:t>Merkezilik, topluluk, dayanıklılık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92040"/>
            <a:ext cx="85039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1F2328"/>
                </a:solidFill>
                <a:latin typeface="Aptos"/>
              </a:defRPr>
            </a:pPr>
            <a:r>
              <a:t>Bu akışta temel amaç, fiyat seviyelerini doğrudan karşılaştırmak yerine birlikte hareket etme yapısını ağ olarak okumaktır.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900" b="0">
                <a:solidFill>
                  <a:srgbClr val="5E667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F2328"/>
                </a:solidFill>
                <a:latin typeface="Aptos"/>
              </a:defRPr>
            </a:pPr>
            <a:r>
              <a:t>Ağ Yapısı ve Temel Ölçütler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43000"/>
            <a:ext cx="1110996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etwork_graph_enh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9888"/>
            <a:ext cx="6263640" cy="4892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55448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1C5691"/>
                </a:solidFill>
                <a:latin typeface="Aptos Display"/>
              </a:defRPr>
            </a:pPr>
            <a:r>
              <a:t>0.124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Tam ağ yoğunluğu</a:t>
            </a:r>
          </a:p>
        </p:txBody>
      </p:sp>
      <p:sp>
        <p:nvSpPr>
          <p:cNvPr id="6" name="Rectangle 5"/>
          <p:cNvSpPr/>
          <p:nvPr/>
        </p:nvSpPr>
        <p:spPr>
          <a:xfrm>
            <a:off x="7086600" y="1554480"/>
            <a:ext cx="64008" cy="822960"/>
          </a:xfrm>
          <a:prstGeom prst="rect">
            <a:avLst/>
          </a:prstGeom>
          <a:solidFill>
            <a:srgbClr val="1C5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72600" y="155448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007E80"/>
                </a:solidFill>
                <a:latin typeface="Aptos Display"/>
              </a:defRPr>
            </a:pPr>
            <a:r>
              <a:t>13 düğüm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Aktif alt ağ</a:t>
            </a:r>
          </a:p>
        </p:txBody>
      </p:sp>
      <p:sp>
        <p:nvSpPr>
          <p:cNvPr id="8" name="Rectangle 7"/>
          <p:cNvSpPr/>
          <p:nvPr/>
        </p:nvSpPr>
        <p:spPr>
          <a:xfrm>
            <a:off x="9372600" y="1554480"/>
            <a:ext cx="64008" cy="822960"/>
          </a:xfrm>
          <a:prstGeom prst="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86600" y="269748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418456"/>
                </a:solidFill>
                <a:latin typeface="Aptos Display"/>
              </a:defRPr>
            </a:pPr>
            <a:r>
              <a:t>9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Bileşen sayısı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2697480"/>
            <a:ext cx="64008" cy="822960"/>
          </a:xfrm>
          <a:prstGeom prst="rect">
            <a:avLst/>
          </a:prstGeom>
          <a:solidFill>
            <a:srgbClr val="418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72600" y="269748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B94242"/>
                </a:solidFill>
                <a:latin typeface="Aptos Display"/>
              </a:defRPr>
            </a:pPr>
            <a:r>
              <a:t>6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En büyük bileşen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2697480"/>
            <a:ext cx="64008" cy="822960"/>
          </a:xfrm>
          <a:prstGeom prst="rect">
            <a:avLst/>
          </a:prstGeom>
          <a:solidFill>
            <a:srgbClr val="B9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4069080"/>
            <a:ext cx="420624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- Hisse senedi endeksleri ve VIX belirgin bir çekirdek oluşturdu.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- Bazı varlıklar eşik değerine göre izole kaldı.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- Ağ genel olarak parçalı ama merkezde yoğun bir yapı gösterdi.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900" b="0">
                <a:solidFill>
                  <a:srgbClr val="5E667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F2328"/>
                </a:solidFill>
                <a:latin typeface="Aptos"/>
              </a:defRPr>
            </a:pPr>
            <a:r>
              <a:t>Merkezilik Bulguları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43000"/>
            <a:ext cx="1110996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p_degree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484632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97880" y="1572768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1C5691"/>
                </a:solidFill>
                <a:latin typeface="Aptos"/>
              </a:defRPr>
            </a:pPr>
            <a:r>
              <a:t>Degree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2057400"/>
            <a:ext cx="16459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0">
                <a:solidFill>
                  <a:srgbClr val="1F2328"/>
                </a:solidFill>
                <a:latin typeface="Aptos"/>
              </a:defRPr>
            </a:pPr>
            <a:r>
              <a:t>1. DAX</a:t>
            </a:r>
            <a:br/>
            <a:r>
              <a:t>0.2941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697480"/>
            <a:ext cx="16459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0">
                <a:solidFill>
                  <a:srgbClr val="1F2328"/>
                </a:solidFill>
                <a:latin typeface="Aptos"/>
              </a:defRPr>
            </a:pPr>
            <a:r>
              <a:t>2. SP500</a:t>
            </a:r>
            <a:br/>
            <a:r>
              <a:t>0.2941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337560"/>
            <a:ext cx="16459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0">
                <a:solidFill>
                  <a:srgbClr val="1F2328"/>
                </a:solidFill>
                <a:latin typeface="Aptos"/>
              </a:defRPr>
            </a:pPr>
            <a:r>
              <a:t>3. FTSE100</a:t>
            </a:r>
            <a:br/>
            <a:r>
              <a:t>0.2941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3977640"/>
            <a:ext cx="16459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0">
                <a:solidFill>
                  <a:srgbClr val="1F2328"/>
                </a:solidFill>
                <a:latin typeface="Aptos"/>
              </a:defRPr>
            </a:pPr>
            <a:r>
              <a:t>4. VIX</a:t>
            </a:r>
            <a:br/>
            <a:r>
              <a:t>0.2941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4617720"/>
            <a:ext cx="16459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0">
                <a:solidFill>
                  <a:srgbClr val="1F2328"/>
                </a:solidFill>
                <a:latin typeface="Aptos"/>
              </a:defRPr>
            </a:pPr>
            <a:r>
              <a:t>5. Dow_Jones</a:t>
            </a:r>
            <a:br/>
            <a:r>
              <a:t>0.2941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572768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B94242"/>
                </a:solidFill>
                <a:latin typeface="Aptos"/>
              </a:defRPr>
            </a:pPr>
            <a:r>
              <a:t>Betweenness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057400"/>
            <a:ext cx="16459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0">
                <a:solidFill>
                  <a:srgbClr val="1F2328"/>
                </a:solidFill>
                <a:latin typeface="Aptos"/>
              </a:defRPr>
            </a:pPr>
            <a:r>
              <a:t>1. VIX</a:t>
            </a:r>
            <a:br/>
            <a:r>
              <a:t>0.0735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697480"/>
            <a:ext cx="16459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0">
                <a:solidFill>
                  <a:srgbClr val="1F2328"/>
                </a:solidFill>
                <a:latin typeface="Aptos"/>
              </a:defRPr>
            </a:pPr>
            <a:r>
              <a:t>2. Gold</a:t>
            </a:r>
            <a:br/>
            <a:r>
              <a:t>0.0074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337560"/>
            <a:ext cx="16459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0">
                <a:solidFill>
                  <a:srgbClr val="1F2328"/>
                </a:solidFill>
                <a:latin typeface="Aptos"/>
              </a:defRPr>
            </a:pPr>
            <a:r>
              <a:t>3. Silver</a:t>
            </a:r>
            <a:br/>
            <a:r>
              <a:t>0.0000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977640"/>
            <a:ext cx="16459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0">
                <a:solidFill>
                  <a:srgbClr val="1F2328"/>
                </a:solidFill>
                <a:latin typeface="Aptos"/>
              </a:defRPr>
            </a:pPr>
            <a:r>
              <a:t>4. Brent_Oil</a:t>
            </a:r>
            <a:br/>
            <a:r>
              <a:t>0.0000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617720"/>
            <a:ext cx="16459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0">
                <a:solidFill>
                  <a:srgbClr val="1F2328"/>
                </a:solidFill>
                <a:latin typeface="Aptos"/>
              </a:defRPr>
            </a:pPr>
            <a:r>
              <a:t>5. Natural_Gas</a:t>
            </a:r>
            <a:br/>
            <a:r>
              <a:t>0.0000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1572768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418456"/>
                </a:solidFill>
                <a:latin typeface="Aptos"/>
              </a:defRPr>
            </a:pPr>
            <a:r>
              <a:t>Eigenvector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2057400"/>
            <a:ext cx="16459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0">
                <a:solidFill>
                  <a:srgbClr val="1F2328"/>
                </a:solidFill>
                <a:latin typeface="Aptos"/>
              </a:defRPr>
            </a:pPr>
            <a:r>
              <a:t>1. DAX</a:t>
            </a:r>
            <a:br/>
            <a:r>
              <a:t>0.4082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697480"/>
            <a:ext cx="16459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0">
                <a:solidFill>
                  <a:srgbClr val="1F2328"/>
                </a:solidFill>
                <a:latin typeface="Aptos"/>
              </a:defRPr>
            </a:pPr>
            <a:r>
              <a:t>2. SP500</a:t>
            </a:r>
            <a:br/>
            <a:r>
              <a:t>0.4082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3337560"/>
            <a:ext cx="16459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0">
                <a:solidFill>
                  <a:srgbClr val="1F2328"/>
                </a:solidFill>
                <a:latin typeface="Aptos"/>
              </a:defRPr>
            </a:pPr>
            <a:r>
              <a:t>3. FTSE100</a:t>
            </a:r>
            <a:br/>
            <a:r>
              <a:t>0.4082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977640"/>
            <a:ext cx="16459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0">
                <a:solidFill>
                  <a:srgbClr val="1F2328"/>
                </a:solidFill>
                <a:latin typeface="Aptos"/>
              </a:defRPr>
            </a:pPr>
            <a:r>
              <a:t>4. VIX</a:t>
            </a:r>
            <a:br/>
            <a:r>
              <a:t>0.4082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4617720"/>
            <a:ext cx="16459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0">
                <a:solidFill>
                  <a:srgbClr val="1F2328"/>
                </a:solidFill>
                <a:latin typeface="Aptos"/>
              </a:defRPr>
            </a:pPr>
            <a:r>
              <a:t>5. Dow_Jones</a:t>
            </a:r>
            <a:br/>
            <a:r>
              <a:t>0.4082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5532120"/>
            <a:ext cx="539496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1F2328"/>
                </a:solidFill>
                <a:latin typeface="Aptos"/>
              </a:defRPr>
            </a:pPr>
            <a:r>
              <a:t>VIX, betweenness centrality açısından öne çıkarak risk göstergesi rolünü ağ içinde de gösterdi.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900" b="0">
                <a:solidFill>
                  <a:srgbClr val="5E667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F2328"/>
                </a:solidFill>
                <a:latin typeface="Aptos"/>
              </a:defRPr>
            </a:pPr>
            <a:r>
              <a:t>Topluluklar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43000"/>
            <a:ext cx="1110996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mmunity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806440" cy="4892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0840" y="1508760"/>
            <a:ext cx="4251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1C5691"/>
                </a:solidFill>
                <a:latin typeface="Aptos Display"/>
              </a:defRPr>
            </a:pPr>
            <a:r>
              <a:t>EUR_TRY, USD_TRY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Topluluk 0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1508760"/>
            <a:ext cx="64008" cy="713232"/>
          </a:xfrm>
          <a:prstGeom prst="rect">
            <a:avLst/>
          </a:prstGeom>
          <a:solidFill>
            <a:srgbClr val="1C5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20840" y="2423160"/>
            <a:ext cx="4251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007E80"/>
                </a:solidFill>
                <a:latin typeface="Aptos Display"/>
              </a:defRPr>
            </a:pPr>
            <a:r>
              <a:t>Dollar_Index, Gold, Silver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Topluluk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2423160"/>
            <a:ext cx="64008" cy="713232"/>
          </a:xfrm>
          <a:prstGeom prst="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20840" y="3337560"/>
            <a:ext cx="4251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418456"/>
                </a:solidFill>
                <a:latin typeface="Aptos Display"/>
              </a:defRPr>
            </a:pPr>
            <a:r>
              <a:t>DAX, Dow_Jones, FTSE100, NASDAQ, SP500, VIX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Topluluk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3337560"/>
            <a:ext cx="64008" cy="713232"/>
          </a:xfrm>
          <a:prstGeom prst="rect">
            <a:avLst/>
          </a:prstGeom>
          <a:solidFill>
            <a:srgbClr val="418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20840" y="4251960"/>
            <a:ext cx="4251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B94242"/>
                </a:solidFill>
                <a:latin typeface="Aptos Display"/>
              </a:defRPr>
            </a:pPr>
            <a:r>
              <a:t>Brent_Oil, WTI_Oil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Topluluk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4251960"/>
            <a:ext cx="64008" cy="713232"/>
          </a:xfrm>
          <a:prstGeom prst="rect">
            <a:avLst/>
          </a:prstGeom>
          <a:solidFill>
            <a:srgbClr val="B9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5440680"/>
            <a:ext cx="429768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50" b="1">
                <a:solidFill>
                  <a:srgbClr val="1F2328"/>
                </a:solidFill>
                <a:latin typeface="Aptos"/>
              </a:defRPr>
            </a:pPr>
            <a:r>
              <a:t>Topluluklar finansal segmentlerin ayrışmasını gösterir: hisse-risk grubu, değerli metaller, döviz ve enerji varlıkları ayrı yapılar oluşturdu.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900" b="0">
                <a:solidFill>
                  <a:srgbClr val="5E667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F2328"/>
                </a:solidFill>
                <a:latin typeface="Aptos"/>
              </a:defRPr>
            </a:pPr>
            <a:r>
              <a:t>Dayanıklılık ve Genel Sonuç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43000"/>
            <a:ext cx="1110996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1C5691"/>
                </a:solidFill>
                <a:latin typeface="Aptos Display"/>
              </a:defRPr>
            </a:pPr>
            <a:r>
              <a:t>19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Başlangıç kenar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64008" cy="822960"/>
          </a:xfrm>
          <a:prstGeom prst="rect">
            <a:avLst/>
          </a:prstGeom>
          <a:solidFill>
            <a:srgbClr val="1C5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54680" y="150876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007E80"/>
                </a:solidFill>
                <a:latin typeface="Aptos Display"/>
              </a:defRPr>
            </a:pPr>
            <a:r>
              <a:t>14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SP500 çıkarılınca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508760"/>
            <a:ext cx="64008" cy="822960"/>
          </a:xfrm>
          <a:prstGeom prst="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0" y="150876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B94242"/>
                </a:solidFill>
                <a:latin typeface="Aptos Display"/>
              </a:defRPr>
            </a:pPr>
            <a:r>
              <a:t>14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VIX çıkarılınca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508760"/>
            <a:ext cx="64008" cy="822960"/>
          </a:xfrm>
          <a:prstGeom prst="rect">
            <a:avLst/>
          </a:prstGeom>
          <a:solidFill>
            <a:srgbClr val="B9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01000" y="150876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64008"/>
          <a:lstStyle/>
          <a:p>
            <a:pPr algn="ctr">
              <a:defRPr sz="1900" b="1">
                <a:solidFill>
                  <a:srgbClr val="418456"/>
                </a:solidFill>
                <a:latin typeface="Aptos Display"/>
              </a:defRPr>
            </a:pPr>
            <a:r>
              <a:t>5</a:t>
            </a:r>
          </a:p>
          <a:p>
            <a:pPr>
              <a:defRPr sz="1000">
                <a:solidFill>
                  <a:srgbClr val="5E6670"/>
                </a:solidFill>
                <a:latin typeface="Aptos"/>
              </a:defRPr>
            </a:pPr>
            <a:r>
              <a:t>En büyük bileşen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508760"/>
            <a:ext cx="64008" cy="822960"/>
          </a:xfrm>
          <a:prstGeom prst="rect">
            <a:avLst/>
          </a:prstGeom>
          <a:solidFill>
            <a:srgbClr val="418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54864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328"/>
                </a:solidFill>
                <a:latin typeface="Aptos"/>
              </a:defRPr>
            </a:pPr>
            <a:r>
              <a:t>- Merkezi düğüm çıkarma kenar sayısını azaltıyor.</a:t>
            </a:r>
          </a:p>
          <a:p>
            <a:pPr>
              <a:spcAft>
                <a:spcPts val="800"/>
              </a:spcAft>
              <a:defRPr sz="1600">
                <a:solidFill>
                  <a:srgbClr val="1F2328"/>
                </a:solidFill>
                <a:latin typeface="Aptos"/>
              </a:defRPr>
            </a:pPr>
            <a:r>
              <a:t>- Ağ tamamen çökmüyor; ancak çekirdek yapı zayıflıyor.</a:t>
            </a:r>
          </a:p>
          <a:p>
            <a:pPr>
              <a:spcAft>
                <a:spcPts val="800"/>
              </a:spcAft>
              <a:defRPr sz="1600">
                <a:solidFill>
                  <a:srgbClr val="1F2328"/>
                </a:solidFill>
                <a:latin typeface="Aptos"/>
              </a:defRPr>
            </a:pPr>
            <a:r>
              <a:t>- Hisse senedi endeksleri ve VIX en dikkat çeken merkez yapıyı oluşturuyor.</a:t>
            </a:r>
          </a:p>
          <a:p>
            <a:pPr>
              <a:spcAft>
                <a:spcPts val="800"/>
              </a:spcAft>
              <a:defRPr sz="1600">
                <a:solidFill>
                  <a:srgbClr val="1F2328"/>
                </a:solidFill>
                <a:latin typeface="Aptos"/>
              </a:defRPr>
            </a:pPr>
            <a:r>
              <a:t>- Sosyal ağ analizi finansal varlıkları sistem olarak okumayı kolaylaştırıyor.</a:t>
            </a:r>
          </a:p>
        </p:txBody>
      </p:sp>
      <p:pic>
        <p:nvPicPr>
          <p:cNvPr id="13" name="Picture 12" descr="degre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788920"/>
            <a:ext cx="4206240" cy="2606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900" b="0">
                <a:solidFill>
                  <a:srgbClr val="5E667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